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74" r:id="rId3"/>
    <p:sldId id="257" r:id="rId4"/>
    <p:sldId id="258" r:id="rId5"/>
    <p:sldId id="259" r:id="rId6"/>
    <p:sldId id="260" r:id="rId7"/>
    <p:sldId id="261" r:id="rId8"/>
    <p:sldId id="275" r:id="rId9"/>
    <p:sldId id="262" r:id="rId10"/>
    <p:sldId id="263" r:id="rId11"/>
    <p:sldId id="264" r:id="rId12"/>
    <p:sldId id="265" r:id="rId13"/>
    <p:sldId id="266" r:id="rId14"/>
    <p:sldId id="267" r:id="rId15"/>
    <p:sldId id="268" r:id="rId16"/>
    <p:sldId id="269" r:id="rId17"/>
    <p:sldId id="276" r:id="rId18"/>
    <p:sldId id="277" r:id="rId19"/>
    <p:sldId id="278" r:id="rId20"/>
    <p:sldId id="279" r:id="rId21"/>
    <p:sldId id="273" r:id="rId22"/>
    <p:sldId id="298" r:id="rId23"/>
    <p:sldId id="299" r:id="rId24"/>
    <p:sldId id="270" r:id="rId25"/>
    <p:sldId id="280" r:id="rId26"/>
    <p:sldId id="271" r:id="rId27"/>
    <p:sldId id="272" r:id="rId2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5B3C20EE-7DF4-40DD-8AC2-168F83F37896}">
          <p14:sldIdLst>
            <p14:sldId id="274"/>
            <p14:sldId id="257"/>
            <p14:sldId id="258"/>
            <p14:sldId id="259"/>
            <p14:sldId id="260"/>
            <p14:sldId id="261"/>
            <p14:sldId id="275"/>
            <p14:sldId id="262"/>
            <p14:sldId id="263"/>
            <p14:sldId id="264"/>
            <p14:sldId id="265"/>
            <p14:sldId id="266"/>
            <p14:sldId id="267"/>
            <p14:sldId id="268"/>
            <p14:sldId id="269"/>
            <p14:sldId id="276"/>
            <p14:sldId id="277"/>
            <p14:sldId id="278"/>
            <p14:sldId id="279"/>
            <p14:sldId id="273"/>
            <p14:sldId id="298"/>
            <p14:sldId id="299"/>
            <p14:sldId id="270"/>
            <p14:sldId id="280"/>
            <p14:sldId id="271"/>
            <p14:sldId id="272"/>
          </p14:sldIdLst>
        </p14:section>
      </p14:section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63" d="100"/>
          <a:sy n="63" d="100"/>
        </p:scale>
        <p:origin x="804" y="5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1" Type="http://schemas.openxmlformats.org/officeDocument/2006/relationships/tableStyles" Target="tableStyles.xml"/><Relationship Id="rId30" Type="http://schemas.openxmlformats.org/officeDocument/2006/relationships/viewProps" Target="viewProps.xml"/><Relationship Id="rId3" Type="http://schemas.openxmlformats.org/officeDocument/2006/relationships/slide" Target="slides/slide1.xml"/><Relationship Id="rId29" Type="http://schemas.openxmlformats.org/officeDocument/2006/relationships/presProps" Target="presProps.xml"/><Relationship Id="rId28" Type="http://schemas.openxmlformats.org/officeDocument/2006/relationships/slide" Target="slides/slide26.xml"/><Relationship Id="rId27" Type="http://schemas.openxmlformats.org/officeDocument/2006/relationships/slide" Target="slides/slide25.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en-US"/>
              <a:t>Click to edit Master title style</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fld>
            <a:endParaRPr lang="en-US" dirty="0"/>
          </a:p>
        </p:txBody>
      </p:sp>
      <p:sp>
        <p:nvSpPr>
          <p:cNvPr id="5" name="Footer Placeholder 4"/>
          <p:cNvSpPr>
            <a:spLocks noGrp="1"/>
          </p:cNvSpPr>
          <p:nvPr>
            <p:ph type="ftr" sz="quarter" idx="11"/>
          </p:nvPr>
        </p:nvSpPr>
        <p:spPr/>
        <p:txBody>
          <a:bodyPr/>
          <a:lstStyle/>
          <a:p>
            <a:endParaRPr lang="en-US" dirty="0"/>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531812" y="4529540"/>
            <a:ext cx="779767" cy="365125"/>
          </a:xfrm>
        </p:spPr>
        <p:txBody>
          <a:bodyPr/>
          <a:lstStyle/>
          <a:p>
            <a:fld id="{D57F1E4F-1CFF-5643-939E-217C01CDF565}" type="slidenum">
              <a:rPr lang="en-US" dirty="0"/>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en-US"/>
              <a:t>Click to edit Master title style</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fld>
            <a:endParaRPr lang="en-US" dirty="0"/>
          </a:p>
        </p:txBody>
      </p:sp>
      <p:sp>
        <p:nvSpPr>
          <p:cNvPr id="5" name="Footer Placeholder 4"/>
          <p:cNvSpPr>
            <a:spLocks noGrp="1"/>
          </p:cNvSpPr>
          <p:nvPr>
            <p:ph type="ftr" sz="quarter" idx="11"/>
          </p:nvPr>
        </p:nvSpPr>
        <p:spPr/>
        <p:txBody>
          <a:bodyPr/>
          <a:lstStyle/>
          <a:p>
            <a:endParaRPr lang="en-US"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D57F1E4F-1CFF-5643-939E-217C01CDF565}" type="slidenum">
              <a:rPr lang="en-US" dirty="0"/>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B61BEF0D-F0BB-DE4B-95CE-6DB70DBA9567}" type="datetimeFigureOut">
              <a:rPr lang="en-US" dirty="0"/>
            </a:fld>
            <a:endParaRPr lang="en-US" dirty="0"/>
          </a:p>
        </p:txBody>
      </p:sp>
      <p:sp>
        <p:nvSpPr>
          <p:cNvPr id="5" name="Footer Placeholder 4"/>
          <p:cNvSpPr>
            <a:spLocks noGrp="1"/>
          </p:cNvSpPr>
          <p:nvPr>
            <p:ph type="ftr" sz="quarter" idx="11"/>
          </p:nvPr>
        </p:nvSpPr>
        <p:spPr/>
        <p:txBody>
          <a:bodyPr/>
          <a:lstStyle/>
          <a:p>
            <a:endParaRPr lang="en-US" dirty="0"/>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D57F1E4F-1CFF-5643-939E-217C01CDF565}" type="slidenum">
              <a:rPr lang="en-US" dirty="0"/>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5" name="Date Placeholder 4"/>
          <p:cNvSpPr>
            <a:spLocks noGrp="1"/>
          </p:cNvSpPr>
          <p:nvPr>
            <p:ph type="dt" sz="half" idx="10"/>
          </p:nvPr>
        </p:nvSpPr>
        <p:spPr/>
        <p:txBody>
          <a:bodyPr/>
          <a:lstStyle/>
          <a:p>
            <a:fld id="{B61BEF0D-F0BB-DE4B-95CE-6DB70DBA9567}" type="datetimeFigureOut">
              <a:rPr lang="en-US" dirty="0"/>
            </a:fld>
            <a:endParaRPr lang="en-US" dirty="0"/>
          </a:p>
        </p:txBody>
      </p:sp>
      <p:sp>
        <p:nvSpPr>
          <p:cNvPr id="6" name="Footer Placeholder 5"/>
          <p:cNvSpPr>
            <a:spLocks noGrp="1"/>
          </p:cNvSpPr>
          <p:nvPr>
            <p:ph type="ftr" sz="quarter" idx="11"/>
          </p:nvPr>
        </p:nvSpPr>
        <p:spPr/>
        <p:txBody>
          <a:bodyPr/>
          <a:lstStyle/>
          <a:p>
            <a:endParaRPr lang="en-US" dirty="0"/>
          </a:p>
        </p:txBody>
      </p:sp>
      <p:sp>
        <p:nvSpPr>
          <p:cNvPr id="10"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1" name="Slide Number Placeholder 5"/>
          <p:cNvSpPr>
            <a:spLocks noGrp="1"/>
          </p:cNvSpPr>
          <p:nvPr>
            <p:ph type="sldNum" sz="quarter" idx="12"/>
          </p:nvPr>
        </p:nvSpPr>
        <p:spPr>
          <a:xfrm>
            <a:off x="531812" y="787782"/>
            <a:ext cx="779767" cy="365125"/>
          </a:xfrm>
        </p:spPr>
        <p:txBody>
          <a:bodyPr/>
          <a:lstStyle/>
          <a:p>
            <a:fld id="{D57F1E4F-1CFF-5643-939E-217C01CDF565}" type="slidenum">
              <a:rPr lang="en-US" dirty="0"/>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a:spLocks noGrp="1"/>
          </p:cNvSpPr>
          <p:nvPr>
            <p:ph sz="half" idx="2"/>
          </p:nvPr>
        </p:nvSpPr>
        <p:spPr>
          <a:xfrm>
            <a:off x="2589212" y="2548966"/>
            <a:ext cx="4342893" cy="3354060"/>
          </a:xfrm>
        </p:spPr>
        <p:txBody>
          <a:bodyPr>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dirty="0"/>
            </a:fld>
            <a:endParaRPr lang="en-US" dirty="0"/>
          </a:p>
        </p:txBody>
      </p:sp>
      <p:sp>
        <p:nvSpPr>
          <p:cNvPr id="8" name="Footer Placeholder 7"/>
          <p:cNvSpPr>
            <a:spLocks noGrp="1"/>
          </p:cNvSpPr>
          <p:nvPr>
            <p:ph type="ftr" sz="quarter" idx="11"/>
          </p:nvPr>
        </p:nvSpPr>
        <p:spPr/>
        <p:txBody>
          <a:bodyPr/>
          <a:lstStyle/>
          <a:p>
            <a:endParaRPr lang="en-US" dirty="0"/>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D57F1E4F-1CFF-5643-939E-217C01CDF565}" type="slidenum">
              <a:rPr lang="en-US" dirty="0"/>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dirty="0"/>
            </a:fld>
            <a:endParaRPr lang="en-US" dirty="0"/>
          </a:p>
        </p:txBody>
      </p:sp>
      <p:sp>
        <p:nvSpPr>
          <p:cNvPr id="4" name="Footer Placeholder 3"/>
          <p:cNvSpPr>
            <a:spLocks noGrp="1"/>
          </p:cNvSpPr>
          <p:nvPr>
            <p:ph type="ftr" sz="quarter" idx="11"/>
          </p:nvPr>
        </p:nvSpPr>
        <p:spPr/>
        <p:txBody>
          <a:bodyPr/>
          <a:lstStyle/>
          <a:p>
            <a:endParaRPr lang="en-US" dirty="0"/>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D57F1E4F-1CFF-5643-939E-217C01CDF565}" type="slidenum">
              <a:rPr lang="en-US" dirty="0"/>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dirty="0"/>
            </a:fld>
            <a:endParaRPr lang="en-US" dirty="0"/>
          </a:p>
        </p:txBody>
      </p:sp>
      <p:sp>
        <p:nvSpPr>
          <p:cNvPr id="3" name="Footer Placeholder 2"/>
          <p:cNvSpPr>
            <a:spLocks noGrp="1"/>
          </p:cNvSpPr>
          <p:nvPr>
            <p:ph type="ftr" sz="quarter" idx="11"/>
          </p:nvPr>
        </p:nvSpPr>
        <p:spPr/>
        <p:txBody>
          <a:bodyPr/>
          <a:lstStyle/>
          <a:p>
            <a:endParaRPr lang="en-US" dirty="0"/>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D57F1E4F-1CFF-5643-939E-217C01CDF565}" type="slidenum">
              <a:rPr lang="en-US" dirty="0"/>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en-US"/>
              <a:t>Click to edit Master title style</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B61BEF0D-F0BB-DE4B-95CE-6DB70DBA9567}" type="datetimeFigureOut">
              <a:rPr lang="en-US" dirty="0"/>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D57F1E4F-1CFF-5643-939E-217C01CDF565}" type="slidenum">
              <a:rPr lang="en-US" dirty="0"/>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B61BEF0D-F0BB-DE4B-95CE-6DB70DBA9567}" type="datetimeFigureOut">
              <a:rPr lang="en-US" dirty="0"/>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B61BEF0D-F0BB-DE4B-95CE-6DB70DBA9567}" type="datetimeFigureOut">
              <a:rPr lang="en-US" dirty="0"/>
            </a:fld>
            <a:endParaRPr lang="en-US" dirty="0"/>
          </a:p>
        </p:txBody>
      </p:sp>
      <p:sp>
        <p:nvSpPr>
          <p:cNvPr id="5" name="Footer Placeholder 4"/>
          <p:cNvSpPr>
            <a:spLocks noGrp="1"/>
          </p:cNvSpPr>
          <p:nvPr>
            <p:ph type="ftr" sz="quarter" idx="11"/>
          </p:nvPr>
        </p:nvSpPr>
        <p:spPr/>
        <p:txBody>
          <a:bodyPr/>
          <a:lstStyle/>
          <a:p>
            <a:endParaRPr lang="en-US" dirty="0"/>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D57F1E4F-1CFF-5643-939E-217C01CDF565}" type="slidenum">
              <a:rPr lang="en-US" dirty="0"/>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endParaRPr lang="en-US"/>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B61BEF0D-F0BB-DE4B-95CE-6DB70DBA9567}" type="datetimeFigureOut">
              <a:rPr lang="en-US" dirty="0"/>
            </a:fld>
            <a:endParaRPr lang="en-US" dirty="0"/>
          </a:p>
        </p:txBody>
      </p:sp>
      <p:sp>
        <p:nvSpPr>
          <p:cNvPr id="5" name="Footer Placeholder 4"/>
          <p:cNvSpPr>
            <a:spLocks noGrp="1"/>
          </p:cNvSpPr>
          <p:nvPr>
            <p:ph type="ftr" sz="quarter" idx="11"/>
          </p:nvPr>
        </p:nvSpPr>
        <p:spPr/>
        <p:txBody>
          <a:bodyPr/>
          <a:lstStyle/>
          <a:p>
            <a:endParaRPr lang="en-US" dirty="0"/>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D57F1E4F-1CFF-5643-939E-217C01CDF565}" type="slidenum">
              <a:rPr lang="en-US" dirty="0"/>
            </a:fld>
            <a:endParaRPr lang="en-US" dirty="0"/>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panose="020B0604020202020204"/>
              </a:rPr>
              <a:t>“</a:t>
            </a:r>
            <a:endParaRPr lang="en-US" sz="8000" baseline="0" dirty="0">
              <a:ln w="3175" cmpd="sng">
                <a:noFill/>
              </a:ln>
              <a:solidFill>
                <a:schemeClr val="accent1"/>
              </a:solidFill>
              <a:effectLst/>
              <a:latin typeface="Arial" panose="020B0604020202020204"/>
            </a:endParaRP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panose="020B0604020202020204"/>
              </a:rPr>
              <a:t>”</a:t>
            </a:r>
            <a:endParaRPr lang="en-US" sz="8000" baseline="0" dirty="0">
              <a:ln w="3175" cmpd="sng">
                <a:noFill/>
              </a:ln>
              <a:solidFill>
                <a:schemeClr val="accent1"/>
              </a:solidFill>
              <a:effectLst/>
              <a:latin typeface="Arial" panose="020B0604020202020204"/>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en-US"/>
              <a:t>Click to edit Master title style</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endParaRPr lang="en-US"/>
          </a:p>
        </p:txBody>
      </p:sp>
      <p:sp>
        <p:nvSpPr>
          <p:cNvPr id="5" name="Date Placeholder 4"/>
          <p:cNvSpPr>
            <a:spLocks noGrp="1"/>
          </p:cNvSpPr>
          <p:nvPr>
            <p:ph type="dt" sz="half" idx="10"/>
          </p:nvPr>
        </p:nvSpPr>
        <p:spPr/>
        <p:txBody>
          <a:bodyPr/>
          <a:lstStyle/>
          <a:p>
            <a:fld id="{B61BEF0D-F0BB-DE4B-95CE-6DB70DBA9567}" type="datetimeFigureOut">
              <a:rPr lang="en-US" dirty="0"/>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endParaRPr lang="en-US"/>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endParaRPr lang="en-US"/>
          </a:p>
        </p:txBody>
      </p:sp>
      <p:sp>
        <p:nvSpPr>
          <p:cNvPr id="5" name="Date Placeholder 4"/>
          <p:cNvSpPr>
            <a:spLocks noGrp="1"/>
          </p:cNvSpPr>
          <p:nvPr>
            <p:ph type="dt" sz="half" idx="10"/>
          </p:nvPr>
        </p:nvSpPr>
        <p:spPr/>
        <p:txBody>
          <a:bodyPr/>
          <a:lstStyle/>
          <a:p>
            <a:fld id="{B61BEF0D-F0BB-DE4B-95CE-6DB70DBA9567}" type="datetimeFigureOut">
              <a:rPr lang="en-US" dirty="0"/>
            </a:fld>
            <a:endParaRPr lang="en-US" dirty="0"/>
          </a:p>
        </p:txBody>
      </p:sp>
      <p:sp>
        <p:nvSpPr>
          <p:cNvPr id="6" name="Footer Placeholder 5"/>
          <p:cNvSpPr>
            <a:spLocks noGrp="1"/>
          </p:cNvSpPr>
          <p:nvPr>
            <p:ph type="ftr" sz="quarter" idx="11"/>
          </p:nvPr>
        </p:nvSpPr>
        <p:spPr/>
        <p:txBody>
          <a:bodyPr/>
          <a:lstStyle/>
          <a:p>
            <a:endParaRPr lang="en-US" dirty="0"/>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fld>
            <a:endParaRPr lang="en-US" dirty="0"/>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panose="020B0604020202020204"/>
              </a:rPr>
              <a:t>“</a:t>
            </a:r>
            <a:endParaRPr lang="en-US" sz="8000" baseline="0" dirty="0">
              <a:ln w="3175" cmpd="sng">
                <a:noFill/>
              </a:ln>
              <a:solidFill>
                <a:schemeClr val="accent1"/>
              </a:solidFill>
              <a:effectLst/>
              <a:latin typeface="Arial" panose="020B0604020202020204"/>
            </a:endParaRP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panose="020B0604020202020204"/>
              </a:rPr>
              <a:t>”</a:t>
            </a:r>
            <a:endParaRPr lang="en-US" sz="8000" baseline="0" dirty="0">
              <a:ln w="3175" cmpd="sng">
                <a:noFill/>
              </a:ln>
              <a:solidFill>
                <a:schemeClr val="accent1"/>
              </a:solidFill>
              <a:effectLst/>
              <a:latin typeface="Arial" panose="020B0604020202020204"/>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endParaRPr lang="en-US"/>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endParaRPr lang="en-US"/>
          </a:p>
        </p:txBody>
      </p:sp>
      <p:sp>
        <p:nvSpPr>
          <p:cNvPr id="5" name="Date Placeholder 4"/>
          <p:cNvSpPr>
            <a:spLocks noGrp="1"/>
          </p:cNvSpPr>
          <p:nvPr>
            <p:ph type="dt" sz="half" idx="10"/>
          </p:nvPr>
        </p:nvSpPr>
        <p:spPr/>
        <p:txBody>
          <a:bodyPr/>
          <a:lstStyle/>
          <a:p>
            <a:fld id="{B61BEF0D-F0BB-DE4B-95CE-6DB70DBA9567}" type="datetimeFigureOut">
              <a:rPr lang="en-US" dirty="0"/>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fld>
            <a:endParaRPr lang="en-US" dirty="0"/>
          </a:p>
        </p:txBody>
      </p:sp>
      <p:sp>
        <p:nvSpPr>
          <p:cNvPr id="5" name="Footer Placeholder 4"/>
          <p:cNvSpPr>
            <a:spLocks noGrp="1"/>
          </p:cNvSpPr>
          <p:nvPr>
            <p:ph type="ftr" sz="quarter" idx="11"/>
          </p:nvPr>
        </p:nvSpPr>
        <p:spPr/>
        <p:txBody>
          <a:bodyPr/>
          <a:lstStyle/>
          <a:p>
            <a:endParaRPr lang="en-US"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D57F1E4F-1CFF-5643-939E-217C01CDF565}" type="slidenum">
              <a:rPr lang="en-US" dirty="0"/>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fld>
            <a:endParaRPr lang="en-US" dirty="0"/>
          </a:p>
        </p:txBody>
      </p:sp>
      <p:sp>
        <p:nvSpPr>
          <p:cNvPr id="5" name="Footer Placeholder 4"/>
          <p:cNvSpPr>
            <a:spLocks noGrp="1"/>
          </p:cNvSpPr>
          <p:nvPr>
            <p:ph type="ftr" sz="quarter" idx="11"/>
          </p:nvPr>
        </p:nvSpPr>
        <p:spPr/>
        <p:txBody>
          <a:bodyPr/>
          <a:lstStyle/>
          <a:p>
            <a:endParaRPr lang="en-US"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D57F1E4F-1CFF-5643-939E-217C01CDF565}" type="slidenum">
              <a:rPr lang="en-US" dirty="0"/>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7" Type="http://schemas.openxmlformats.org/officeDocument/2006/relationships/theme" Target="../theme/theme1.xml"/><Relationship Id="rId16" Type="http://schemas.openxmlformats.org/officeDocument/2006/relationships/slideLayout" Target="../slideLayouts/slideLayout16.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10" name="Group 9"/>
          <p:cNvGrpSpPr/>
          <p:nvPr/>
        </p:nvGrpSpPr>
        <p:grpSpPr>
          <a:xfrm>
            <a:off x="27221" y="-786"/>
            <a:ext cx="2356674" cy="6854039"/>
            <a:chOff x="6627813" y="194833"/>
            <a:chExt cx="1952625" cy="5678918"/>
          </a:xfrm>
        </p:grpSpPr>
        <p:sp>
          <p:nvSpPr>
            <p:cNvPr id="11" name="Freeform 27"/>
            <p:cNvSpPr/>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dirty="0"/>
            </a:fld>
            <a:endParaRPr lang="en-US" dirty="0"/>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bwMode="gray">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D57F1E4F-1CFF-5643-939E-217C01CDF565}" type="slidenum">
              <a:rPr lang="en-US" dirty="0"/>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Lst>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panose="05040102010807070707"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panose="05040102010807070707"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panose="05040102010807070707"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panose="05040102010807070707"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panose="05040102010807070707"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panose="05040102010807070707"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panose="05040102010807070707"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panose="05040102010807070707"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panose="05040102010807070707"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2.jpeg"/><Relationship Id="rId1" Type="http://schemas.openxmlformats.org/officeDocument/2006/relationships/image" Target="../media/image1.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4.png"/></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5.png"/></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6.png"/></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7.png"/></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8.png"/></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9.png"/></Relationships>
</file>

<file path=ppt/slides/_rels/slide22.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10.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1.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926080" y="1220360"/>
            <a:ext cx="7124701" cy="311260"/>
          </a:xfrm>
        </p:spPr>
        <p:txBody>
          <a:bodyPr>
            <a:normAutofit fontScale="90000"/>
          </a:bodyPr>
          <a:lstStyle/>
          <a:p>
            <a:r>
              <a:rPr lang="en-US" sz="1600" dirty="0"/>
              <a:t>0</a:t>
            </a:r>
            <a:endParaRPr lang="en-IN" sz="1600" dirty="0"/>
          </a:p>
        </p:txBody>
      </p:sp>
      <p:sp>
        <p:nvSpPr>
          <p:cNvPr id="3" name="Subtitle 2"/>
          <p:cNvSpPr>
            <a:spLocks noGrp="1"/>
          </p:cNvSpPr>
          <p:nvPr>
            <p:ph type="subTitle" idx="1"/>
          </p:nvPr>
        </p:nvSpPr>
        <p:spPr>
          <a:xfrm>
            <a:off x="2032000" y="2042160"/>
            <a:ext cx="8018780" cy="1401445"/>
          </a:xfrm>
        </p:spPr>
        <p:txBody>
          <a:bodyPr>
            <a:normAutofit lnSpcReduction="20000"/>
          </a:bodyPr>
          <a:lstStyle/>
          <a:p>
            <a:pPr marL="749935" marR="0" lvl="0" indent="0" algn="ctr" defTabSz="914400" rtl="0" eaLnBrk="1" fontAlgn="auto" latinLnBrk="0" hangingPunct="1">
              <a:lnSpc>
                <a:spcPct val="100000"/>
              </a:lnSpc>
              <a:spcBef>
                <a:spcPts val="100"/>
              </a:spcBef>
              <a:spcAft>
                <a:spcPts val="0"/>
              </a:spcAft>
              <a:buClrTx/>
              <a:buSzTx/>
              <a:buFontTx/>
              <a:buNone/>
              <a:defRPr/>
            </a:pPr>
            <a:r>
              <a:rPr kumimoji="0" lang="en-US" sz="1800" b="1" i="0" u="none" strike="noStrike" kern="1200" cap="none" spc="-5" normalizeH="0" baseline="0" noProof="0" dirty="0">
                <a:ln>
                  <a:noFill/>
                </a:ln>
                <a:solidFill>
                  <a:prstClr val="black"/>
                </a:solidFill>
                <a:effectLst/>
                <a:uLnTx/>
                <a:uFillTx/>
                <a:latin typeface="Arial" panose="020B0604020202020204"/>
                <a:ea typeface="+mn-ea"/>
                <a:cs typeface="Arial" panose="020B0604020202020204"/>
              </a:rPr>
              <a:t>Department</a:t>
            </a:r>
            <a:r>
              <a:rPr kumimoji="0" lang="en-US" sz="1800" b="1" i="0" u="none" strike="noStrike" kern="1200" cap="none" spc="-20" normalizeH="0" baseline="0" noProof="0" dirty="0">
                <a:ln>
                  <a:noFill/>
                </a:ln>
                <a:solidFill>
                  <a:prstClr val="black"/>
                </a:solidFill>
                <a:effectLst/>
                <a:uLnTx/>
                <a:uFillTx/>
                <a:latin typeface="Arial" panose="020B0604020202020204"/>
                <a:ea typeface="+mn-ea"/>
                <a:cs typeface="Arial" panose="020B0604020202020204"/>
              </a:rPr>
              <a:t> </a:t>
            </a:r>
            <a:r>
              <a:rPr kumimoji="0" lang="en-US" sz="1800" b="1" i="0" u="none" strike="noStrike" kern="1200" cap="none" spc="-5" normalizeH="0" baseline="0" noProof="0" dirty="0">
                <a:ln>
                  <a:noFill/>
                </a:ln>
                <a:solidFill>
                  <a:prstClr val="black"/>
                </a:solidFill>
                <a:effectLst/>
                <a:uLnTx/>
                <a:uFillTx/>
                <a:latin typeface="Arial" panose="020B0604020202020204"/>
                <a:ea typeface="+mn-ea"/>
                <a:cs typeface="Arial" panose="020B0604020202020204"/>
              </a:rPr>
              <a:t>of</a:t>
            </a:r>
            <a:r>
              <a:rPr kumimoji="0" lang="en-US" sz="1800" b="1" i="0" u="none" strike="noStrike" kern="1200" cap="none" spc="-20" normalizeH="0" baseline="0" noProof="0" dirty="0">
                <a:ln>
                  <a:noFill/>
                </a:ln>
                <a:solidFill>
                  <a:prstClr val="black"/>
                </a:solidFill>
                <a:effectLst/>
                <a:uLnTx/>
                <a:uFillTx/>
                <a:latin typeface="Arial" panose="020B0604020202020204"/>
                <a:ea typeface="+mn-ea"/>
                <a:cs typeface="Arial" panose="020B0604020202020204"/>
              </a:rPr>
              <a:t> </a:t>
            </a:r>
            <a:r>
              <a:rPr kumimoji="0" lang="en-US" sz="1800" b="1" i="0" u="none" strike="noStrike" kern="1200" cap="none" spc="-5" normalizeH="0" baseline="0" noProof="0" dirty="0">
                <a:ln>
                  <a:noFill/>
                </a:ln>
                <a:solidFill>
                  <a:prstClr val="black"/>
                </a:solidFill>
                <a:effectLst/>
                <a:uLnTx/>
                <a:uFillTx/>
                <a:latin typeface="Arial" panose="020B0604020202020204"/>
                <a:ea typeface="+mn-ea"/>
                <a:cs typeface="Arial" panose="020B0604020202020204"/>
              </a:rPr>
              <a:t>Computer</a:t>
            </a:r>
            <a:r>
              <a:rPr kumimoji="0" lang="en-US" sz="1800" b="1" i="0" u="none" strike="noStrike" kern="1200" cap="none" spc="-15" normalizeH="0" baseline="0" noProof="0" dirty="0">
                <a:ln>
                  <a:noFill/>
                </a:ln>
                <a:solidFill>
                  <a:prstClr val="black"/>
                </a:solidFill>
                <a:effectLst/>
                <a:uLnTx/>
                <a:uFillTx/>
                <a:latin typeface="Arial" panose="020B0604020202020204"/>
                <a:ea typeface="+mn-ea"/>
                <a:cs typeface="Arial" panose="020B0604020202020204"/>
              </a:rPr>
              <a:t> </a:t>
            </a:r>
            <a:r>
              <a:rPr kumimoji="0" lang="en-US" sz="1800" b="1" i="0" u="none" strike="noStrike" kern="1200" cap="none" spc="-5" normalizeH="0" baseline="0" noProof="0" dirty="0">
                <a:ln>
                  <a:noFill/>
                </a:ln>
                <a:solidFill>
                  <a:prstClr val="black"/>
                </a:solidFill>
                <a:effectLst/>
                <a:uLnTx/>
                <a:uFillTx/>
                <a:latin typeface="Arial" panose="020B0604020202020204"/>
                <a:ea typeface="+mn-ea"/>
                <a:cs typeface="Arial" panose="020B0604020202020204"/>
              </a:rPr>
              <a:t>Science</a:t>
            </a:r>
            <a:r>
              <a:rPr kumimoji="0" lang="en-US" sz="1800" b="1" i="0" u="none" strike="noStrike" kern="1200" cap="none" spc="-25" normalizeH="0" baseline="0" noProof="0" dirty="0">
                <a:ln>
                  <a:noFill/>
                </a:ln>
                <a:solidFill>
                  <a:prstClr val="black"/>
                </a:solidFill>
                <a:effectLst/>
                <a:uLnTx/>
                <a:uFillTx/>
                <a:latin typeface="Arial" panose="020B0604020202020204"/>
                <a:ea typeface="+mn-ea"/>
                <a:cs typeface="Arial" panose="020B0604020202020204"/>
              </a:rPr>
              <a:t> </a:t>
            </a:r>
            <a:r>
              <a:rPr kumimoji="0" lang="en-US" sz="1800" b="1" i="0" u="none" strike="noStrike" kern="1200" cap="none" spc="0" normalizeH="0" baseline="0" noProof="0" dirty="0">
                <a:ln>
                  <a:noFill/>
                </a:ln>
                <a:solidFill>
                  <a:prstClr val="black"/>
                </a:solidFill>
                <a:effectLst/>
                <a:uLnTx/>
                <a:uFillTx/>
                <a:latin typeface="Arial" panose="020B0604020202020204"/>
                <a:ea typeface="+mn-ea"/>
                <a:cs typeface="Arial" panose="020B0604020202020204"/>
              </a:rPr>
              <a:t>&amp;</a:t>
            </a:r>
            <a:r>
              <a:rPr kumimoji="0" lang="en-US" sz="1800" b="1" i="0" u="none" strike="noStrike" kern="1200" cap="none" spc="-15" normalizeH="0" baseline="0" noProof="0" dirty="0">
                <a:ln>
                  <a:noFill/>
                </a:ln>
                <a:solidFill>
                  <a:prstClr val="black"/>
                </a:solidFill>
                <a:effectLst/>
                <a:uLnTx/>
                <a:uFillTx/>
                <a:latin typeface="Arial" panose="020B0604020202020204"/>
                <a:ea typeface="+mn-ea"/>
                <a:cs typeface="Arial" panose="020B0604020202020204"/>
              </a:rPr>
              <a:t> </a:t>
            </a:r>
            <a:r>
              <a:rPr kumimoji="0" lang="en-US" sz="1800" b="1" i="0" u="none" strike="noStrike" kern="1200" cap="none" spc="-5" normalizeH="0" baseline="0" noProof="0" dirty="0">
                <a:ln>
                  <a:noFill/>
                </a:ln>
                <a:solidFill>
                  <a:prstClr val="black"/>
                </a:solidFill>
                <a:effectLst/>
                <a:uLnTx/>
                <a:uFillTx/>
                <a:latin typeface="Arial" panose="020B0604020202020204"/>
                <a:ea typeface="+mn-ea"/>
                <a:cs typeface="Arial" panose="020B0604020202020204"/>
              </a:rPr>
              <a:t>Engineering</a:t>
            </a:r>
            <a:endParaRPr kumimoji="0" lang="en-US" sz="1800" b="0" i="0" u="none" strike="noStrike" kern="1200" cap="none" spc="-5" normalizeH="0" baseline="0" noProof="0" dirty="0">
              <a:ln>
                <a:noFill/>
              </a:ln>
              <a:solidFill>
                <a:prstClr val="black"/>
              </a:solidFill>
              <a:effectLst/>
              <a:uLnTx/>
              <a:uFillTx/>
              <a:latin typeface="Arial" panose="020B0604020202020204"/>
              <a:ea typeface="+mn-ea"/>
              <a:cs typeface="Arial" panose="020B0604020202020204"/>
            </a:endParaRPr>
          </a:p>
          <a:p>
            <a:pPr marL="749935" marR="0" lvl="0" indent="0" algn="ctr" defTabSz="914400" rtl="0" eaLnBrk="1" fontAlgn="auto" latinLnBrk="0" hangingPunct="1">
              <a:lnSpc>
                <a:spcPct val="100000"/>
              </a:lnSpc>
              <a:spcBef>
                <a:spcPts val="100"/>
              </a:spcBef>
              <a:spcAft>
                <a:spcPts val="0"/>
              </a:spcAft>
              <a:buClrTx/>
              <a:buSzTx/>
              <a:buFontTx/>
              <a:buNone/>
              <a:defRPr/>
            </a:pPr>
            <a:r>
              <a:rPr kumimoji="0" lang="en-US" sz="1800" b="1" i="0" u="none" strike="noStrike" kern="1200" cap="none" spc="0" normalizeH="0" baseline="0" noProof="0" dirty="0">
                <a:ln>
                  <a:noFill/>
                </a:ln>
                <a:solidFill>
                  <a:prstClr val="black"/>
                </a:solidFill>
                <a:effectLst/>
                <a:uLnTx/>
                <a:uFillTx/>
                <a:latin typeface="Arial" panose="020B0604020202020204"/>
                <a:ea typeface="+mn-ea"/>
                <a:cs typeface="Arial" panose="020B0604020202020204"/>
              </a:rPr>
              <a:t>A Mini</a:t>
            </a:r>
            <a:r>
              <a:rPr kumimoji="0" lang="en-US" sz="1800" b="1" i="0" u="none" strike="noStrike" kern="1200" cap="none" spc="-100" normalizeH="0" baseline="0" noProof="0" dirty="0">
                <a:ln>
                  <a:noFill/>
                </a:ln>
                <a:solidFill>
                  <a:prstClr val="black"/>
                </a:solidFill>
                <a:effectLst/>
                <a:uLnTx/>
                <a:uFillTx/>
                <a:latin typeface="Arial" panose="020B0604020202020204"/>
                <a:ea typeface="+mn-ea"/>
                <a:cs typeface="Arial" panose="020B0604020202020204"/>
              </a:rPr>
              <a:t> </a:t>
            </a:r>
            <a:r>
              <a:rPr kumimoji="0" lang="en-US" sz="1800" b="1" i="0" u="none" strike="noStrike" kern="1200" cap="none" spc="-5" normalizeH="0" baseline="0" noProof="0" dirty="0">
                <a:ln>
                  <a:noFill/>
                </a:ln>
                <a:solidFill>
                  <a:prstClr val="black"/>
                </a:solidFill>
                <a:effectLst/>
                <a:uLnTx/>
                <a:uFillTx/>
                <a:latin typeface="Arial" panose="020B0604020202020204"/>
                <a:ea typeface="+mn-ea"/>
                <a:cs typeface="Arial" panose="020B0604020202020204"/>
              </a:rPr>
              <a:t>Project</a:t>
            </a:r>
            <a:endParaRPr kumimoji="0" lang="en-US" sz="1800" b="1" i="0" u="none" strike="noStrike" kern="1200" cap="none" spc="-5" normalizeH="0" baseline="0" noProof="0" dirty="0">
              <a:ln>
                <a:noFill/>
              </a:ln>
              <a:solidFill>
                <a:prstClr val="black"/>
              </a:solidFill>
              <a:effectLst/>
              <a:uLnTx/>
              <a:uFillTx/>
              <a:latin typeface="Arial" panose="020B0604020202020204"/>
              <a:ea typeface="+mn-ea"/>
              <a:cs typeface="Arial" panose="020B0604020202020204"/>
            </a:endParaRPr>
          </a:p>
          <a:p>
            <a:pPr marL="749935" marR="0" lvl="0" indent="0" algn="ctr" defTabSz="914400" rtl="0" eaLnBrk="1" fontAlgn="auto" latinLnBrk="0" hangingPunct="1">
              <a:lnSpc>
                <a:spcPct val="100000"/>
              </a:lnSpc>
              <a:spcBef>
                <a:spcPts val="100"/>
              </a:spcBef>
              <a:spcAft>
                <a:spcPts val="0"/>
              </a:spcAft>
              <a:buClrTx/>
              <a:buSzTx/>
              <a:buFontTx/>
              <a:buNone/>
              <a:defRPr/>
            </a:pPr>
            <a:r>
              <a:rPr kumimoji="0" lang="en-US" sz="1800" b="1" i="0" u="none" strike="noStrike" kern="1200" cap="none" spc="-5" normalizeH="0" baseline="0" noProof="0" dirty="0">
                <a:ln>
                  <a:noFill/>
                </a:ln>
                <a:solidFill>
                  <a:prstClr val="black"/>
                </a:solidFill>
                <a:effectLst/>
                <a:uLnTx/>
                <a:uFillTx/>
                <a:latin typeface="Arial" panose="020B0604020202020204"/>
                <a:ea typeface="+mn-ea"/>
                <a:cs typeface="Arial" panose="020B0604020202020204"/>
              </a:rPr>
              <a:t>On</a:t>
            </a:r>
            <a:endParaRPr kumimoji="0" lang="en-US" sz="1800" b="1" i="0" u="none" strike="noStrike" kern="1200" cap="none" spc="-5" normalizeH="0" baseline="0" noProof="0" dirty="0">
              <a:ln>
                <a:noFill/>
              </a:ln>
              <a:solidFill>
                <a:prstClr val="black"/>
              </a:solidFill>
              <a:effectLst/>
              <a:uLnTx/>
              <a:uFillTx/>
              <a:latin typeface="Arial" panose="020B0604020202020204"/>
              <a:ea typeface="+mn-ea"/>
              <a:cs typeface="Arial" panose="020B0604020202020204"/>
            </a:endParaRPr>
          </a:p>
          <a:p>
            <a:pPr marL="749935" marR="0" lvl="0" indent="0" algn="ctr" defTabSz="914400" rtl="0" eaLnBrk="1" fontAlgn="auto" latinLnBrk="0" hangingPunct="1">
              <a:lnSpc>
                <a:spcPct val="100000"/>
              </a:lnSpc>
              <a:spcBef>
                <a:spcPts val="100"/>
              </a:spcBef>
              <a:spcAft>
                <a:spcPts val="0"/>
              </a:spcAft>
              <a:buClrTx/>
              <a:buSzTx/>
              <a:buFontTx/>
              <a:buNone/>
              <a:defRPr/>
            </a:pPr>
            <a:r>
              <a:rPr kumimoji="0" lang="en-US" sz="1800" b="1" i="0" u="none" strike="noStrike" kern="1200" cap="none" spc="0" normalizeH="0" baseline="0" noProof="0" dirty="0">
                <a:ln>
                  <a:noFill/>
                </a:ln>
                <a:solidFill>
                  <a:prstClr val="black"/>
                </a:solidFill>
                <a:effectLst/>
                <a:uLnTx/>
                <a:uFillTx/>
                <a:latin typeface="Arial" panose="020B0604020202020204"/>
                <a:ea typeface="+mn-ea"/>
                <a:cs typeface="Arial" panose="020B0604020202020204"/>
              </a:rPr>
              <a:t>LEAF DISEASE DETECTION</a:t>
            </a:r>
            <a:endParaRPr kumimoji="0" lang="en-US" sz="1800" b="1" i="0" u="none" strike="noStrike" kern="1200" cap="none" spc="0" normalizeH="0" baseline="0" noProof="0" dirty="0">
              <a:ln>
                <a:noFill/>
              </a:ln>
              <a:solidFill>
                <a:prstClr val="black"/>
              </a:solidFill>
              <a:effectLst/>
              <a:uLnTx/>
              <a:uFillTx/>
              <a:latin typeface="Arial" panose="020B0604020202020204"/>
              <a:ea typeface="+mn-ea"/>
              <a:cs typeface="Arial" panose="020B0604020202020204"/>
            </a:endParaRPr>
          </a:p>
          <a:p>
            <a:pPr marL="749935" marR="0" lvl="0" indent="0" algn="ctr" defTabSz="914400" rtl="0" eaLnBrk="1" fontAlgn="auto" latinLnBrk="0" hangingPunct="1">
              <a:lnSpc>
                <a:spcPct val="100000"/>
              </a:lnSpc>
              <a:spcBef>
                <a:spcPts val="100"/>
              </a:spcBef>
              <a:spcAft>
                <a:spcPts val="0"/>
              </a:spcAft>
              <a:buClrTx/>
              <a:buSzTx/>
              <a:buFontTx/>
              <a:buNone/>
              <a:defRPr/>
            </a:pPr>
            <a:r>
              <a:rPr kumimoji="0" lang="en-US" sz="1800" b="1" i="0" u="none" strike="noStrike" kern="1200" cap="none" spc="0" normalizeH="0" baseline="0" noProof="0" dirty="0">
                <a:ln>
                  <a:noFill/>
                </a:ln>
                <a:solidFill>
                  <a:prstClr val="black"/>
                </a:solidFill>
                <a:effectLst/>
                <a:uLnTx/>
                <a:uFillTx/>
                <a:latin typeface="Arial" panose="020B0604020202020204"/>
                <a:ea typeface="+mn-ea"/>
                <a:cs typeface="Arial" panose="020B0604020202020204"/>
              </a:rPr>
              <a:t>USING DEEPLEARNING</a:t>
            </a:r>
            <a:endParaRPr kumimoji="0" lang="en-US" sz="1800" b="1" i="0" u="none" strike="noStrike" kern="1200" cap="none" spc="0" normalizeH="0" baseline="0" noProof="0" dirty="0">
              <a:ln>
                <a:noFill/>
              </a:ln>
              <a:solidFill>
                <a:prstClr val="black"/>
              </a:solidFill>
              <a:effectLst/>
              <a:uLnTx/>
              <a:uFillTx/>
              <a:latin typeface="Arial" panose="020B0604020202020204"/>
              <a:ea typeface="+mn-ea"/>
              <a:cs typeface="Arial" panose="020B0604020202020204"/>
            </a:endParaRPr>
          </a:p>
          <a:p>
            <a:pPr marL="749935" marR="0" lvl="0" indent="0" algn="ctr" defTabSz="914400" rtl="0" eaLnBrk="1" fontAlgn="auto" latinLnBrk="0" hangingPunct="1">
              <a:lnSpc>
                <a:spcPct val="100000"/>
              </a:lnSpc>
              <a:spcBef>
                <a:spcPts val="100"/>
              </a:spcBef>
              <a:spcAft>
                <a:spcPts val="0"/>
              </a:spcAft>
              <a:buClrTx/>
              <a:buSzTx/>
              <a:buFontTx/>
              <a:buNone/>
              <a:defRPr/>
            </a:pPr>
            <a:endParaRPr kumimoji="0" lang="en-US" sz="1800" b="0" i="0" u="none" strike="noStrike" kern="1200" cap="none" spc="0" normalizeH="0" baseline="0" noProof="0" dirty="0">
              <a:ln>
                <a:noFill/>
              </a:ln>
              <a:solidFill>
                <a:prstClr val="black"/>
              </a:solidFill>
              <a:effectLst/>
              <a:uLnTx/>
              <a:uFillTx/>
              <a:latin typeface="Arial" panose="020B0604020202020204"/>
              <a:ea typeface="+mn-ea"/>
              <a:cs typeface="Arial" panose="020B0604020202020204"/>
            </a:endParaRPr>
          </a:p>
          <a:p>
            <a:endParaRPr lang="en-IN" dirty="0"/>
          </a:p>
        </p:txBody>
      </p:sp>
      <p:grpSp>
        <p:nvGrpSpPr>
          <p:cNvPr id="4" name="object 3"/>
          <p:cNvGrpSpPr/>
          <p:nvPr/>
        </p:nvGrpSpPr>
        <p:grpSpPr>
          <a:xfrm>
            <a:off x="541019" y="0"/>
            <a:ext cx="9509762" cy="1920240"/>
            <a:chOff x="541019" y="0"/>
            <a:chExt cx="8602980" cy="1842180"/>
          </a:xfrm>
        </p:grpSpPr>
        <p:sp>
          <p:nvSpPr>
            <p:cNvPr id="5" name="object 4"/>
            <p:cNvSpPr/>
            <p:nvPr/>
          </p:nvSpPr>
          <p:spPr>
            <a:xfrm>
              <a:off x="2087880" y="0"/>
              <a:ext cx="7056119" cy="1842180"/>
            </a:xfrm>
            <a:custGeom>
              <a:avLst/>
              <a:gdLst/>
              <a:ahLst/>
              <a:cxnLst/>
              <a:rect l="l" t="t" r="r" b="b"/>
              <a:pathLst>
                <a:path w="9144000" h="3429000">
                  <a:moveTo>
                    <a:pt x="9143999" y="3428999"/>
                  </a:moveTo>
                  <a:lnTo>
                    <a:pt x="0" y="3428999"/>
                  </a:lnTo>
                  <a:lnTo>
                    <a:pt x="0" y="0"/>
                  </a:lnTo>
                  <a:lnTo>
                    <a:pt x="9143999" y="0"/>
                  </a:lnTo>
                  <a:lnTo>
                    <a:pt x="9143999" y="3428999"/>
                  </a:lnTo>
                  <a:close/>
                </a:path>
              </a:pathLst>
            </a:custGeom>
            <a:solidFill>
              <a:srgbClr val="FFFFFF"/>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6" name="object 5"/>
            <p:cNvPicPr/>
            <p:nvPr/>
          </p:nvPicPr>
          <p:blipFill>
            <a:blip r:embed="rId1" cstate="print"/>
            <a:stretch>
              <a:fillRect/>
            </a:stretch>
          </p:blipFill>
          <p:spPr>
            <a:xfrm>
              <a:off x="541019" y="127584"/>
              <a:ext cx="1348741" cy="1101627"/>
            </a:xfrm>
            <a:prstGeom prst="rect">
              <a:avLst/>
            </a:prstGeom>
          </p:spPr>
        </p:pic>
      </p:grpSp>
      <p:pic>
        <p:nvPicPr>
          <p:cNvPr id="7" name="Picture 2" descr="National Board Of Accreditation (Nba) in Subramani Nagar, Info Bells  Technologies Private Limited | ID: 21274167473"/>
          <p:cNvPicPr>
            <a:picLocks noChangeAspect="1" noChangeArrowheads="1"/>
          </p:cNvPicPr>
          <p:nvPr/>
        </p:nvPicPr>
        <p:blipFill>
          <a:blip r:embed="rId2" cstate="print"/>
          <a:srcRect/>
          <a:stretch>
            <a:fillRect/>
          </a:stretch>
        </p:blipFill>
        <p:spPr bwMode="auto">
          <a:xfrm>
            <a:off x="10195560" y="133351"/>
            <a:ext cx="1234440" cy="1151417"/>
          </a:xfrm>
          <a:prstGeom prst="rect">
            <a:avLst/>
          </a:prstGeom>
          <a:noFill/>
        </p:spPr>
      </p:pic>
      <p:sp>
        <p:nvSpPr>
          <p:cNvPr id="11" name="TextBox 10"/>
          <p:cNvSpPr txBox="1"/>
          <p:nvPr/>
        </p:nvSpPr>
        <p:spPr>
          <a:xfrm>
            <a:off x="2707078" y="312419"/>
            <a:ext cx="7054142" cy="1523494"/>
          </a:xfrm>
          <a:prstGeom prst="rect">
            <a:avLst/>
          </a:prstGeom>
          <a:noFill/>
        </p:spPr>
        <p:txBody>
          <a:bodyPr wrap="square">
            <a:spAutoFit/>
          </a:bodyPr>
          <a:lstStyle/>
          <a:p>
            <a:pPr marL="85725" marR="0" lvl="0" indent="0" algn="ctr" defTabSz="914400" rtl="0" eaLnBrk="1" fontAlgn="auto" latinLnBrk="0" hangingPunct="1">
              <a:lnSpc>
                <a:spcPct val="100000"/>
              </a:lnSpc>
              <a:spcBef>
                <a:spcPts val="555"/>
              </a:spcBef>
              <a:spcAft>
                <a:spcPts val="0"/>
              </a:spcAft>
              <a:buClrTx/>
              <a:buSzTx/>
              <a:buFontTx/>
              <a:buNone/>
              <a:tabLst>
                <a:tab pos="4023995" algn="l"/>
              </a:tabLst>
              <a:defRPr/>
            </a:pPr>
            <a:r>
              <a:rPr kumimoji="0" lang="en-US" sz="1800" b="1" i="0" u="none" strike="noStrike" kern="1200" cap="none" spc="-5" normalizeH="0" baseline="0" noProof="0" dirty="0">
                <a:ln>
                  <a:noFill/>
                </a:ln>
                <a:solidFill>
                  <a:srgbClr val="0070C0"/>
                </a:solidFill>
                <a:effectLst/>
                <a:uLnTx/>
                <a:uFillTx/>
                <a:latin typeface="Times New Roman" panose="02020603050405020304"/>
                <a:ea typeface="+mn-ea"/>
                <a:cs typeface="Times New Roman" panose="02020603050405020304"/>
              </a:rPr>
              <a:t> </a:t>
            </a:r>
            <a:r>
              <a:rPr kumimoji="0" lang="en-US" sz="2400" b="1" i="0" u="none" strike="noStrike" kern="1200" cap="none" spc="-5" normalizeH="0" baseline="0" noProof="0" dirty="0">
                <a:ln>
                  <a:noFill/>
                </a:ln>
                <a:solidFill>
                  <a:srgbClr val="0070C0"/>
                </a:solidFill>
                <a:effectLst/>
                <a:uLnTx/>
                <a:uFillTx/>
                <a:latin typeface="Times New Roman" panose="02020603050405020304"/>
                <a:ea typeface="+mn-ea"/>
                <a:cs typeface="Times New Roman" panose="02020603050405020304"/>
              </a:rPr>
              <a:t>CMR  </a:t>
            </a:r>
            <a:r>
              <a:rPr kumimoji="0" lang="en-US" sz="2400" b="1" i="0" u="none" strike="noStrike" kern="1200" cap="none" spc="-10" normalizeH="0" baseline="0" noProof="0" dirty="0">
                <a:ln>
                  <a:noFill/>
                </a:ln>
                <a:solidFill>
                  <a:srgbClr val="0070C0"/>
                </a:solidFill>
                <a:effectLst/>
                <a:uLnTx/>
                <a:uFillTx/>
                <a:latin typeface="Times New Roman" panose="02020603050405020304"/>
                <a:ea typeface="+mn-ea"/>
                <a:cs typeface="Times New Roman" panose="02020603050405020304"/>
              </a:rPr>
              <a:t>ENGINEERIN</a:t>
            </a:r>
            <a:r>
              <a:rPr lang="en-US" sz="2400" b="1" spc="-10" dirty="0">
                <a:solidFill>
                  <a:srgbClr val="0070C0"/>
                </a:solidFill>
                <a:latin typeface="Times New Roman" panose="02020603050405020304"/>
                <a:cs typeface="Times New Roman" panose="02020603050405020304"/>
              </a:rPr>
              <a:t>G</a:t>
            </a:r>
            <a:r>
              <a:rPr kumimoji="0" lang="en-US" sz="2400" b="1" i="0" u="none" strike="noStrike" kern="1200" cap="none" spc="-10" normalizeH="0" baseline="0" noProof="0" dirty="0">
                <a:ln>
                  <a:noFill/>
                </a:ln>
                <a:solidFill>
                  <a:srgbClr val="0070C0"/>
                </a:solidFill>
                <a:effectLst/>
                <a:uLnTx/>
                <a:uFillTx/>
                <a:latin typeface="Times New Roman" panose="02020603050405020304"/>
                <a:ea typeface="+mn-ea"/>
                <a:cs typeface="Times New Roman" panose="02020603050405020304"/>
              </a:rPr>
              <a:t> </a:t>
            </a:r>
            <a:r>
              <a:rPr kumimoji="0" lang="en-US" sz="2400" b="1" i="0" u="none" strike="noStrike" kern="1200" cap="none" spc="-5" normalizeH="0" baseline="0" noProof="0" dirty="0">
                <a:ln>
                  <a:noFill/>
                </a:ln>
                <a:solidFill>
                  <a:srgbClr val="0070C0"/>
                </a:solidFill>
                <a:effectLst/>
                <a:uLnTx/>
                <a:uFillTx/>
                <a:latin typeface="Times New Roman" panose="02020603050405020304"/>
                <a:ea typeface="+mn-ea"/>
                <a:cs typeface="Times New Roman" panose="02020603050405020304"/>
              </a:rPr>
              <a:t>COLLEGE</a:t>
            </a:r>
            <a:endParaRPr kumimoji="0" lang="en-US" sz="2400" b="1" i="0" u="none" strike="noStrike" kern="1200" cap="none" spc="-5" normalizeH="0" baseline="0" noProof="0" dirty="0">
              <a:ln>
                <a:noFill/>
              </a:ln>
              <a:solidFill>
                <a:srgbClr val="0070C0"/>
              </a:solidFill>
              <a:effectLst/>
              <a:uLnTx/>
              <a:uFillTx/>
              <a:latin typeface="Times New Roman" panose="02020603050405020304"/>
              <a:ea typeface="+mn-ea"/>
              <a:cs typeface="Times New Roman" panose="02020603050405020304"/>
            </a:endParaRPr>
          </a:p>
          <a:p>
            <a:pPr marL="85725" marR="0" lvl="0" indent="0" algn="ctr" defTabSz="914400" rtl="0" eaLnBrk="1" fontAlgn="auto" latinLnBrk="0" hangingPunct="1">
              <a:lnSpc>
                <a:spcPct val="100000"/>
              </a:lnSpc>
              <a:spcBef>
                <a:spcPts val="555"/>
              </a:spcBef>
              <a:spcAft>
                <a:spcPts val="0"/>
              </a:spcAft>
              <a:buClrTx/>
              <a:buSzTx/>
              <a:buFontTx/>
              <a:buNone/>
              <a:tabLst>
                <a:tab pos="4023995" algn="l"/>
              </a:tabLst>
              <a:defRPr/>
            </a:pPr>
            <a:r>
              <a:rPr kumimoji="0" lang="en-US" sz="2400" b="0" i="1" u="none" strike="noStrike" kern="1200" cap="none" spc="-5" normalizeH="0" baseline="0" noProof="0" dirty="0">
                <a:ln>
                  <a:noFill/>
                </a:ln>
                <a:solidFill>
                  <a:srgbClr val="FF0000"/>
                </a:solidFill>
                <a:effectLst/>
                <a:uLnTx/>
                <a:uFillTx/>
                <a:latin typeface="Times New Roman" panose="02020603050405020304"/>
                <a:ea typeface="+mn-ea"/>
                <a:cs typeface="Times New Roman" panose="02020603050405020304"/>
              </a:rPr>
              <a:t>  </a:t>
            </a:r>
            <a:r>
              <a:rPr kumimoji="0" lang="en-US" sz="2400" b="1" i="1" u="none" strike="noStrike" kern="1200" cap="none" spc="-5" normalizeH="0" baseline="0" noProof="0" dirty="0">
                <a:ln>
                  <a:noFill/>
                </a:ln>
                <a:solidFill>
                  <a:srgbClr val="1F497D">
                    <a:lumMod val="50000"/>
                  </a:srgbClr>
                </a:solidFill>
                <a:effectLst/>
                <a:uLnTx/>
                <a:uFillTx/>
                <a:latin typeface="Times New Roman" panose="02020603050405020304"/>
                <a:ea typeface="+mn-ea"/>
                <a:cs typeface="Times New Roman" panose="02020603050405020304"/>
              </a:rPr>
              <a:t>(UGC AUTONOMOUS)</a:t>
            </a:r>
            <a:endParaRPr kumimoji="0" lang="en-US" sz="2400" b="1" i="1" u="none" strike="noStrike" kern="1200" cap="none" spc="-5" normalizeH="0" baseline="0" noProof="0" dirty="0">
              <a:ln>
                <a:noFill/>
              </a:ln>
              <a:solidFill>
                <a:srgbClr val="1F497D">
                  <a:lumMod val="50000"/>
                </a:srgbClr>
              </a:solidFill>
              <a:effectLst/>
              <a:uLnTx/>
              <a:uFillTx/>
              <a:latin typeface="Times New Roman" panose="02020603050405020304"/>
              <a:ea typeface="+mn-ea"/>
              <a:cs typeface="Times New Roman" panose="02020603050405020304"/>
            </a:endParaRPr>
          </a:p>
          <a:p>
            <a:pPr marL="85725" marR="0" lvl="0" indent="0" algn="ctr" defTabSz="914400" rtl="0" eaLnBrk="1" fontAlgn="auto" latinLnBrk="0" hangingPunct="1">
              <a:lnSpc>
                <a:spcPct val="100000"/>
              </a:lnSpc>
              <a:spcBef>
                <a:spcPts val="555"/>
              </a:spcBef>
              <a:spcAft>
                <a:spcPts val="0"/>
              </a:spcAft>
              <a:buClrTx/>
              <a:buSzTx/>
              <a:buFontTx/>
              <a:buNone/>
              <a:tabLst>
                <a:tab pos="4023995" algn="l"/>
              </a:tabLst>
              <a:defRPr/>
            </a:pPr>
            <a:r>
              <a:rPr kumimoji="0" lang="en-US" sz="1400" b="0" i="1" u="none" strike="noStrike" kern="1200" cap="none" spc="-5" normalizeH="0" baseline="0" noProof="0" dirty="0">
                <a:ln>
                  <a:noFill/>
                </a:ln>
                <a:solidFill>
                  <a:srgbClr val="FF0000"/>
                </a:solidFill>
                <a:effectLst/>
                <a:uLnTx/>
                <a:uFillTx/>
                <a:latin typeface="Times New Roman" panose="02020603050405020304"/>
                <a:ea typeface="+mn-ea"/>
                <a:cs typeface="Times New Roman" panose="02020603050405020304"/>
              </a:rPr>
              <a:t>(Accredited </a:t>
            </a:r>
            <a:r>
              <a:rPr kumimoji="0" lang="en-US" sz="1400" b="0" i="1" u="none" strike="noStrike" kern="1200" cap="none" spc="0" normalizeH="0" baseline="0" noProof="0" dirty="0">
                <a:ln>
                  <a:noFill/>
                </a:ln>
                <a:solidFill>
                  <a:srgbClr val="FF0000"/>
                </a:solidFill>
                <a:effectLst/>
                <a:uLnTx/>
                <a:uFillTx/>
                <a:latin typeface="Times New Roman" panose="02020603050405020304"/>
                <a:ea typeface="+mn-ea"/>
                <a:cs typeface="Times New Roman" panose="02020603050405020304"/>
              </a:rPr>
              <a:t>by </a:t>
            </a:r>
            <a:r>
              <a:rPr kumimoji="0" lang="en-US" sz="1400" b="0" i="1" u="none" strike="noStrike" kern="1200" cap="none" spc="-5" normalizeH="0" baseline="0" noProof="0" dirty="0">
                <a:ln>
                  <a:noFill/>
                </a:ln>
                <a:solidFill>
                  <a:srgbClr val="FF0000"/>
                </a:solidFill>
                <a:effectLst/>
                <a:uLnTx/>
                <a:uFillTx/>
                <a:latin typeface="Times New Roman" panose="02020603050405020304"/>
                <a:ea typeface="+mn-ea"/>
                <a:cs typeface="Times New Roman" panose="02020603050405020304"/>
              </a:rPr>
              <a:t>NBA, Approved </a:t>
            </a:r>
            <a:r>
              <a:rPr kumimoji="0" lang="en-US" sz="1400" b="0" i="1" u="none" strike="noStrike" kern="1200" cap="none" spc="0" normalizeH="0" baseline="0" noProof="0" dirty="0">
                <a:ln>
                  <a:noFill/>
                </a:ln>
                <a:solidFill>
                  <a:srgbClr val="FF0000"/>
                </a:solidFill>
                <a:effectLst/>
                <a:uLnTx/>
                <a:uFillTx/>
                <a:latin typeface="Times New Roman" panose="02020603050405020304"/>
                <a:ea typeface="+mn-ea"/>
                <a:cs typeface="Times New Roman" panose="02020603050405020304"/>
              </a:rPr>
              <a:t>by </a:t>
            </a:r>
            <a:r>
              <a:rPr kumimoji="0" lang="en-US" sz="1400" b="0" i="1" u="none" strike="noStrike" kern="1200" cap="none" spc="-5" normalizeH="0" baseline="0" noProof="0" dirty="0">
                <a:ln>
                  <a:noFill/>
                </a:ln>
                <a:solidFill>
                  <a:srgbClr val="FF0000"/>
                </a:solidFill>
                <a:effectLst/>
                <a:uLnTx/>
                <a:uFillTx/>
                <a:latin typeface="Times New Roman" panose="02020603050405020304"/>
                <a:ea typeface="+mn-ea"/>
                <a:cs typeface="Times New Roman" panose="02020603050405020304"/>
              </a:rPr>
              <a:t>AICTE NEW DELHI, Affiliated to JNTU,  Hyderabad)</a:t>
            </a:r>
            <a:endParaRPr kumimoji="0" lang="en-US" sz="1400" b="0" i="1" u="none" strike="noStrike" kern="1200" cap="none" spc="-5" normalizeH="0" baseline="0" noProof="0" dirty="0">
              <a:ln>
                <a:noFill/>
              </a:ln>
              <a:solidFill>
                <a:srgbClr val="FF0000"/>
              </a:solidFill>
              <a:effectLst/>
              <a:uLnTx/>
              <a:uFillTx/>
              <a:latin typeface="Times New Roman" panose="02020603050405020304"/>
              <a:ea typeface="+mn-ea"/>
              <a:cs typeface="Times New Roman" panose="02020603050405020304"/>
            </a:endParaRPr>
          </a:p>
          <a:p>
            <a:pPr marL="85725" marR="0" lvl="0" indent="0" algn="ctr" defTabSz="914400" rtl="0" eaLnBrk="1" fontAlgn="auto" latinLnBrk="0" hangingPunct="1">
              <a:lnSpc>
                <a:spcPct val="100000"/>
              </a:lnSpc>
              <a:spcBef>
                <a:spcPts val="555"/>
              </a:spcBef>
              <a:spcAft>
                <a:spcPts val="0"/>
              </a:spcAft>
              <a:buClrTx/>
              <a:buSzTx/>
              <a:buFontTx/>
              <a:buNone/>
              <a:tabLst>
                <a:tab pos="4023995" algn="l"/>
              </a:tabLst>
              <a:defRPr/>
            </a:pPr>
            <a:r>
              <a:rPr kumimoji="0" lang="en-IN" sz="1400" b="0" i="1" u="none" strike="noStrike" kern="1200" cap="none" spc="-5" normalizeH="0" baseline="0" noProof="0" dirty="0" err="1">
                <a:ln>
                  <a:noFill/>
                </a:ln>
                <a:solidFill>
                  <a:srgbClr val="FF0000"/>
                </a:solidFill>
                <a:effectLst/>
                <a:uLnTx/>
                <a:uFillTx/>
                <a:latin typeface="Times New Roman" panose="02020603050405020304"/>
                <a:ea typeface="+mn-ea"/>
                <a:cs typeface="Times New Roman" panose="02020603050405020304"/>
              </a:rPr>
              <a:t>Kandlakoya</a:t>
            </a:r>
            <a:r>
              <a:rPr kumimoji="0" lang="en-IN" sz="1400" b="0" i="1" u="none" strike="noStrike" kern="1200" cap="none" spc="-5" normalizeH="0" baseline="0" noProof="0" dirty="0">
                <a:ln>
                  <a:noFill/>
                </a:ln>
                <a:solidFill>
                  <a:srgbClr val="FF0000"/>
                </a:solidFill>
                <a:effectLst/>
                <a:uLnTx/>
                <a:uFillTx/>
                <a:latin typeface="Times New Roman" panose="02020603050405020304"/>
                <a:ea typeface="+mn-ea"/>
                <a:cs typeface="Times New Roman" panose="02020603050405020304"/>
              </a:rPr>
              <a:t>,</a:t>
            </a:r>
            <a:r>
              <a:rPr kumimoji="0" lang="en-IN" sz="1400" b="0" i="1" u="none" strike="noStrike" kern="1200" cap="none" spc="-10" normalizeH="0" baseline="0" noProof="0" dirty="0">
                <a:ln>
                  <a:noFill/>
                </a:ln>
                <a:solidFill>
                  <a:srgbClr val="FF0000"/>
                </a:solidFill>
                <a:effectLst/>
                <a:uLnTx/>
                <a:uFillTx/>
                <a:latin typeface="Times New Roman" panose="02020603050405020304"/>
                <a:ea typeface="+mn-ea"/>
                <a:cs typeface="Times New Roman" panose="02020603050405020304"/>
              </a:rPr>
              <a:t> </a:t>
            </a:r>
            <a:r>
              <a:rPr kumimoji="0" lang="en-IN" sz="1400" b="0" i="1" u="none" strike="noStrike" kern="1200" cap="none" spc="0" normalizeH="0" baseline="0" noProof="0" dirty="0" err="1">
                <a:ln>
                  <a:noFill/>
                </a:ln>
                <a:solidFill>
                  <a:srgbClr val="FF0000"/>
                </a:solidFill>
                <a:effectLst/>
                <a:uLnTx/>
                <a:uFillTx/>
                <a:latin typeface="Times New Roman" panose="02020603050405020304"/>
                <a:ea typeface="+mn-ea"/>
                <a:cs typeface="Times New Roman" panose="02020603050405020304"/>
              </a:rPr>
              <a:t>Medchal</a:t>
            </a:r>
            <a:r>
              <a:rPr kumimoji="0" lang="en-IN" sz="1400" b="0" i="1" u="none" strike="noStrike" kern="1200" cap="none" spc="0" normalizeH="0" baseline="0" noProof="0" dirty="0">
                <a:ln>
                  <a:noFill/>
                </a:ln>
                <a:solidFill>
                  <a:srgbClr val="FF0000"/>
                </a:solidFill>
                <a:effectLst/>
                <a:uLnTx/>
                <a:uFillTx/>
                <a:latin typeface="Times New Roman" panose="02020603050405020304"/>
                <a:ea typeface="+mn-ea"/>
                <a:cs typeface="Times New Roman" panose="02020603050405020304"/>
              </a:rPr>
              <a:t> </a:t>
            </a:r>
            <a:r>
              <a:rPr kumimoji="0" lang="en-IN" sz="1400" b="0" i="1" u="none" strike="noStrike" kern="1200" cap="none" spc="-5" normalizeH="0" baseline="0" noProof="0" dirty="0">
                <a:ln>
                  <a:noFill/>
                </a:ln>
                <a:solidFill>
                  <a:srgbClr val="FF0000"/>
                </a:solidFill>
                <a:effectLst/>
                <a:uLnTx/>
                <a:uFillTx/>
                <a:latin typeface="Times New Roman" panose="02020603050405020304"/>
                <a:ea typeface="+mn-ea"/>
                <a:cs typeface="Times New Roman" panose="02020603050405020304"/>
              </a:rPr>
              <a:t>Road, Hyderabad-501</a:t>
            </a:r>
            <a:r>
              <a:rPr kumimoji="0" lang="en-IN" sz="1400" b="0" i="1" u="none" strike="noStrike" kern="1200" cap="none" spc="-10" normalizeH="0" baseline="0" noProof="0" dirty="0">
                <a:ln>
                  <a:noFill/>
                </a:ln>
                <a:solidFill>
                  <a:srgbClr val="FF0000"/>
                </a:solidFill>
                <a:effectLst/>
                <a:uLnTx/>
                <a:uFillTx/>
                <a:latin typeface="Times New Roman" panose="02020603050405020304"/>
                <a:ea typeface="+mn-ea"/>
                <a:cs typeface="Times New Roman" panose="02020603050405020304"/>
              </a:rPr>
              <a:t> </a:t>
            </a:r>
            <a:r>
              <a:rPr kumimoji="0" lang="en-IN" sz="1400" b="0" i="1" u="none" strike="noStrike" kern="1200" cap="none" spc="10" normalizeH="0" baseline="0" noProof="0" dirty="0">
                <a:ln>
                  <a:noFill/>
                </a:ln>
                <a:solidFill>
                  <a:srgbClr val="FF0000"/>
                </a:solidFill>
                <a:effectLst/>
                <a:uLnTx/>
                <a:uFillTx/>
                <a:latin typeface="Times New Roman" panose="02020603050405020304"/>
                <a:ea typeface="+mn-ea"/>
                <a:cs typeface="Times New Roman" panose="02020603050405020304"/>
              </a:rPr>
              <a:t>401</a:t>
            </a:r>
            <a:r>
              <a:rPr kumimoji="0" lang="en-IN" sz="1600" b="0" i="1" u="none" strike="noStrike" kern="1200" cap="none" spc="10" normalizeH="0" baseline="0" noProof="0" dirty="0">
                <a:ln>
                  <a:noFill/>
                </a:ln>
                <a:solidFill>
                  <a:srgbClr val="FF0000"/>
                </a:solidFill>
                <a:effectLst/>
                <a:uLnTx/>
                <a:uFillTx/>
                <a:latin typeface="Times New Roman" panose="02020603050405020304"/>
                <a:ea typeface="+mn-ea"/>
                <a:cs typeface="Times New Roman" panose="02020603050405020304"/>
              </a:rPr>
              <a:t>.</a:t>
            </a:r>
            <a:endParaRPr lang="en-IN" sz="1400" dirty="0"/>
          </a:p>
        </p:txBody>
      </p:sp>
      <p:sp>
        <p:nvSpPr>
          <p:cNvPr id="12" name="object 2"/>
          <p:cNvSpPr/>
          <p:nvPr/>
        </p:nvSpPr>
        <p:spPr>
          <a:xfrm>
            <a:off x="1878330" y="3550920"/>
            <a:ext cx="9293860" cy="1870710"/>
          </a:xfrm>
          <a:custGeom>
            <a:avLst/>
            <a:gdLst/>
            <a:ahLst/>
            <a:cxnLst/>
            <a:rect l="l" t="t" r="r" b="b"/>
            <a:pathLst>
              <a:path w="9144000" h="1714500">
                <a:moveTo>
                  <a:pt x="0" y="1714499"/>
                </a:moveTo>
                <a:lnTo>
                  <a:pt x="9143999" y="1714499"/>
                </a:lnTo>
                <a:lnTo>
                  <a:pt x="9143999" y="0"/>
                </a:lnTo>
                <a:lnTo>
                  <a:pt x="0" y="0"/>
                </a:lnTo>
                <a:lnTo>
                  <a:pt x="0" y="1714499"/>
                </a:lnTo>
                <a:close/>
              </a:path>
            </a:pathLst>
          </a:custGeom>
          <a:solidFill>
            <a:schemeClr val="accent6">
              <a:lumMod val="60000"/>
              <a:lumOff val="40000"/>
            </a:schemeClr>
          </a:solidFill>
        </p:spPr>
        <p:txBody>
          <a:bodyPr wrap="square" lIns="0" tIns="0" rIns="0" bIns="0" rtlCol="0"/>
          <a:lstStyle/>
          <a:p>
            <a:pPr marL="12700" marR="5080" lvl="0" indent="44450" algn="l" defTabSz="914400" rtl="0" eaLnBrk="1" fontAlgn="auto" latinLnBrk="0" hangingPunct="1">
              <a:lnSpc>
                <a:spcPct val="116000"/>
              </a:lnSpc>
              <a:spcBef>
                <a:spcPts val="185"/>
              </a:spcBef>
              <a:spcAft>
                <a:spcPts val="0"/>
              </a:spcAft>
              <a:buClrTx/>
              <a:buSzTx/>
              <a:buFontTx/>
              <a:buNone/>
              <a:defRPr/>
            </a:pPr>
            <a:r>
              <a:rPr kumimoji="0" lang="en-US" sz="1800" b="1" i="0" u="none" strike="noStrike" kern="1200" cap="none" spc="-5" normalizeH="0" baseline="0" noProof="0" dirty="0">
                <a:ln>
                  <a:noFill/>
                </a:ln>
                <a:solidFill>
                  <a:schemeClr val="tx1">
                    <a:lumMod val="95000"/>
                    <a:lumOff val="5000"/>
                  </a:schemeClr>
                </a:solidFill>
                <a:effectLst/>
                <a:uLnTx/>
                <a:uFillTx/>
                <a:latin typeface="Times New Roman" panose="02020603050405020304"/>
                <a:ea typeface="+mn-ea"/>
                <a:cs typeface="Times New Roman" panose="02020603050405020304"/>
              </a:rPr>
              <a:t>Internal</a:t>
            </a:r>
            <a:r>
              <a:rPr kumimoji="0" lang="en-US" sz="1800" b="1" i="0" u="none" strike="noStrike" kern="1200" cap="none" spc="0" normalizeH="0" baseline="0" noProof="0" dirty="0">
                <a:ln>
                  <a:noFill/>
                </a:ln>
                <a:solidFill>
                  <a:schemeClr val="tx1">
                    <a:lumMod val="95000"/>
                    <a:lumOff val="5000"/>
                  </a:schemeClr>
                </a:solidFill>
                <a:effectLst/>
                <a:uLnTx/>
                <a:uFillTx/>
                <a:latin typeface="Times New Roman" panose="02020603050405020304"/>
                <a:ea typeface="+mn-ea"/>
                <a:cs typeface="Times New Roman" panose="02020603050405020304"/>
              </a:rPr>
              <a:t> </a:t>
            </a:r>
            <a:r>
              <a:rPr kumimoji="0" lang="en-US" sz="1800" b="1" i="0" u="none" strike="noStrike" kern="1200" cap="none" spc="-5" normalizeH="0" baseline="0" noProof="0" dirty="0">
                <a:ln>
                  <a:noFill/>
                </a:ln>
                <a:solidFill>
                  <a:schemeClr val="tx1">
                    <a:lumMod val="95000"/>
                    <a:lumOff val="5000"/>
                  </a:schemeClr>
                </a:solidFill>
                <a:effectLst/>
                <a:uLnTx/>
                <a:uFillTx/>
                <a:latin typeface="Times New Roman" panose="02020603050405020304"/>
                <a:ea typeface="+mn-ea"/>
                <a:cs typeface="Times New Roman" panose="02020603050405020304"/>
              </a:rPr>
              <a:t>Guide:</a:t>
            </a:r>
            <a:r>
              <a:rPr kumimoji="0" lang="en-US" sz="2400" b="1" i="0" u="none" strike="noStrike" kern="1200" cap="none" spc="-5" normalizeH="0" baseline="0" noProof="0" dirty="0">
                <a:ln>
                  <a:noFill/>
                </a:ln>
                <a:solidFill>
                  <a:schemeClr val="tx1">
                    <a:lumMod val="95000"/>
                    <a:lumOff val="5000"/>
                  </a:schemeClr>
                </a:solidFill>
                <a:effectLst/>
                <a:uLnTx/>
                <a:uFillTx/>
                <a:latin typeface="Times New Roman" panose="02020603050405020304"/>
                <a:ea typeface="+mn-ea"/>
                <a:cs typeface="Times New Roman" panose="02020603050405020304"/>
              </a:rPr>
              <a:t>- </a:t>
            </a:r>
            <a:endParaRPr kumimoji="0" lang="en-US" sz="2400" b="1" i="0" u="none" strike="noStrike" kern="1200" cap="none" spc="-5" normalizeH="0" baseline="0" noProof="0" dirty="0">
              <a:ln>
                <a:noFill/>
              </a:ln>
              <a:solidFill>
                <a:schemeClr val="tx1">
                  <a:lumMod val="95000"/>
                  <a:lumOff val="5000"/>
                </a:schemeClr>
              </a:solidFill>
              <a:effectLst/>
              <a:uLnTx/>
              <a:uFillTx/>
              <a:latin typeface="Times New Roman" panose="02020603050405020304"/>
              <a:ea typeface="+mn-ea"/>
              <a:cs typeface="Times New Roman" panose="02020603050405020304"/>
            </a:endParaRPr>
          </a:p>
          <a:p>
            <a:pPr marL="12700" marR="5080" lvl="0" indent="44450" algn="l" defTabSz="914400" rtl="0" eaLnBrk="1" fontAlgn="auto" latinLnBrk="0" hangingPunct="1">
              <a:lnSpc>
                <a:spcPct val="116000"/>
              </a:lnSpc>
              <a:spcBef>
                <a:spcPts val="185"/>
              </a:spcBef>
              <a:spcAft>
                <a:spcPts val="0"/>
              </a:spcAft>
              <a:buClrTx/>
              <a:buSzTx/>
              <a:buFontTx/>
              <a:buNone/>
              <a:defRPr/>
            </a:pPr>
            <a:r>
              <a:rPr kumimoji="0" lang="en-US" sz="1800" b="1" i="0" u="none" strike="noStrike" kern="1200" cap="none" spc="15" normalizeH="0" baseline="0" noProof="0" dirty="0">
                <a:ln>
                  <a:noFill/>
                </a:ln>
                <a:solidFill>
                  <a:schemeClr val="tx1">
                    <a:lumMod val="95000"/>
                    <a:lumOff val="5000"/>
                  </a:schemeClr>
                </a:solidFill>
                <a:effectLst/>
                <a:uLnTx/>
                <a:uFillTx/>
                <a:latin typeface="Times New Roman" panose="02020603050405020304"/>
                <a:ea typeface="+mn-ea"/>
                <a:cs typeface="Times New Roman" panose="02020603050405020304"/>
              </a:rPr>
              <a:t>Mr. M.Prabhakar</a:t>
            </a:r>
            <a:r>
              <a:rPr lang="en-US" b="1" spc="15" dirty="0">
                <a:solidFill>
                  <a:schemeClr val="tx1">
                    <a:lumMod val="95000"/>
                    <a:lumOff val="5000"/>
                  </a:schemeClr>
                </a:solidFill>
                <a:latin typeface="Times New Roman" panose="02020603050405020304"/>
                <a:cs typeface="Times New Roman" panose="02020603050405020304"/>
              </a:rPr>
              <a:t> </a:t>
            </a:r>
            <a:r>
              <a:rPr kumimoji="0" lang="en-US" sz="1800" b="1" i="0" u="none" strike="noStrike" kern="1200" cap="none" spc="-5" normalizeH="0" baseline="0" noProof="0" dirty="0">
                <a:ln>
                  <a:noFill/>
                </a:ln>
                <a:solidFill>
                  <a:schemeClr val="tx1">
                    <a:lumMod val="95000"/>
                    <a:lumOff val="5000"/>
                  </a:schemeClr>
                </a:solidFill>
                <a:effectLst/>
                <a:uLnTx/>
                <a:uFillTx/>
                <a:latin typeface="Times New Roman" panose="02020603050405020304"/>
                <a:ea typeface="+mn-ea"/>
                <a:cs typeface="Times New Roman" panose="02020603050405020304"/>
              </a:rPr>
              <a:t>, </a:t>
            </a:r>
            <a:r>
              <a:rPr kumimoji="0" lang="en-US" sz="1800" b="1" i="0" u="none" strike="noStrike" kern="1200" cap="none" spc="-335" normalizeH="0" baseline="0" noProof="0" dirty="0">
                <a:ln>
                  <a:noFill/>
                </a:ln>
                <a:solidFill>
                  <a:schemeClr val="tx1">
                    <a:lumMod val="95000"/>
                    <a:lumOff val="5000"/>
                  </a:schemeClr>
                </a:solidFill>
                <a:effectLst/>
                <a:uLnTx/>
                <a:uFillTx/>
                <a:latin typeface="Times New Roman" panose="02020603050405020304"/>
                <a:ea typeface="+mn-ea"/>
                <a:cs typeface="Times New Roman" panose="02020603050405020304"/>
              </a:rPr>
              <a:t> </a:t>
            </a:r>
            <a:endParaRPr kumimoji="0" lang="en-US" sz="1800" b="1" i="0" u="none" strike="noStrike" kern="1200" cap="none" spc="-335" normalizeH="0" baseline="0" noProof="0" dirty="0">
              <a:ln>
                <a:noFill/>
              </a:ln>
              <a:solidFill>
                <a:schemeClr val="tx1">
                  <a:lumMod val="95000"/>
                  <a:lumOff val="5000"/>
                </a:schemeClr>
              </a:solidFill>
              <a:effectLst/>
              <a:uLnTx/>
              <a:uFillTx/>
              <a:latin typeface="Times New Roman" panose="02020603050405020304"/>
              <a:ea typeface="+mn-ea"/>
              <a:cs typeface="Times New Roman" panose="02020603050405020304"/>
            </a:endParaRPr>
          </a:p>
          <a:p>
            <a:pPr marL="12700" marR="5080" lvl="0" indent="44450" algn="l" defTabSz="914400" rtl="0" eaLnBrk="1" fontAlgn="auto" latinLnBrk="0" hangingPunct="1">
              <a:lnSpc>
                <a:spcPct val="116000"/>
              </a:lnSpc>
              <a:spcBef>
                <a:spcPts val="185"/>
              </a:spcBef>
              <a:spcAft>
                <a:spcPts val="0"/>
              </a:spcAft>
              <a:buClrTx/>
              <a:buSzTx/>
              <a:buFontTx/>
              <a:buNone/>
              <a:defRPr/>
            </a:pPr>
            <a:r>
              <a:rPr kumimoji="0" lang="en-US" sz="1800" b="1" i="0" u="none" strike="noStrike" kern="1200" cap="none" spc="-5" normalizeH="0" baseline="0" noProof="0" dirty="0">
                <a:ln>
                  <a:noFill/>
                </a:ln>
                <a:solidFill>
                  <a:schemeClr val="tx1">
                    <a:lumMod val="95000"/>
                    <a:lumOff val="5000"/>
                  </a:schemeClr>
                </a:solidFill>
                <a:effectLst/>
                <a:uLnTx/>
                <a:uFillTx/>
                <a:latin typeface="Times New Roman" panose="02020603050405020304"/>
                <a:ea typeface="+mn-ea"/>
                <a:cs typeface="Times New Roman" panose="02020603050405020304"/>
              </a:rPr>
              <a:t>Assistant</a:t>
            </a:r>
            <a:r>
              <a:rPr kumimoji="0" lang="en-US" sz="1800" b="1" i="0" u="none" strike="noStrike" kern="1200" cap="none" spc="-45" normalizeH="0" baseline="0" noProof="0" dirty="0">
                <a:ln>
                  <a:noFill/>
                </a:ln>
                <a:solidFill>
                  <a:schemeClr val="tx1">
                    <a:lumMod val="95000"/>
                    <a:lumOff val="5000"/>
                  </a:schemeClr>
                </a:solidFill>
                <a:effectLst/>
                <a:uLnTx/>
                <a:uFillTx/>
                <a:latin typeface="Times New Roman" panose="02020603050405020304"/>
                <a:ea typeface="+mn-ea"/>
                <a:cs typeface="Times New Roman" panose="02020603050405020304"/>
              </a:rPr>
              <a:t> </a:t>
            </a:r>
            <a:r>
              <a:rPr kumimoji="0" lang="en-US" sz="1800" b="1" i="0" u="none" strike="noStrike" kern="1200" cap="none" spc="-5" normalizeH="0" baseline="0" noProof="0" dirty="0">
                <a:ln>
                  <a:noFill/>
                </a:ln>
                <a:solidFill>
                  <a:schemeClr val="tx1">
                    <a:lumMod val="95000"/>
                    <a:lumOff val="5000"/>
                  </a:schemeClr>
                </a:solidFill>
                <a:effectLst/>
                <a:uLnTx/>
                <a:uFillTx/>
                <a:latin typeface="Times New Roman" panose="02020603050405020304"/>
                <a:ea typeface="+mn-ea"/>
                <a:cs typeface="Times New Roman" panose="02020603050405020304"/>
              </a:rPr>
              <a:t>Professor,</a:t>
            </a:r>
            <a:endParaRPr kumimoji="0" lang="en-US" sz="1800" b="0" i="0" u="none" strike="noStrike" kern="1200" cap="none" spc="0" normalizeH="0" baseline="0" noProof="0" dirty="0">
              <a:ln>
                <a:noFill/>
              </a:ln>
              <a:solidFill>
                <a:schemeClr val="tx1">
                  <a:lumMod val="95000"/>
                  <a:lumOff val="5000"/>
                </a:schemeClr>
              </a:solidFill>
              <a:effectLst/>
              <a:uLnTx/>
              <a:uFillTx/>
              <a:latin typeface="Times New Roman" panose="02020603050405020304"/>
              <a:ea typeface="+mn-ea"/>
              <a:cs typeface="Times New Roman" panose="02020603050405020304"/>
            </a:endParaRPr>
          </a:p>
          <a:p>
            <a:pPr marL="12700" marR="0" lvl="0" indent="0" algn="l" defTabSz="914400" rtl="0" eaLnBrk="1" fontAlgn="auto" latinLnBrk="0" hangingPunct="1">
              <a:lnSpc>
                <a:spcPct val="100000"/>
              </a:lnSpc>
              <a:spcBef>
                <a:spcPts val="655"/>
              </a:spcBef>
              <a:spcAft>
                <a:spcPts val="0"/>
              </a:spcAft>
              <a:buClrTx/>
              <a:buSzTx/>
              <a:buFontTx/>
              <a:buNone/>
              <a:defRPr/>
            </a:pPr>
            <a:r>
              <a:rPr kumimoji="0" lang="en-US" sz="1800" b="1" i="0" u="none" strike="noStrike" kern="1200" cap="none" spc="-5" normalizeH="0" baseline="0" noProof="0" dirty="0">
                <a:ln>
                  <a:noFill/>
                </a:ln>
                <a:solidFill>
                  <a:schemeClr val="tx1">
                    <a:lumMod val="95000"/>
                    <a:lumOff val="5000"/>
                  </a:schemeClr>
                </a:solidFill>
                <a:effectLst/>
                <a:uLnTx/>
                <a:uFillTx/>
                <a:latin typeface="Times New Roman" panose="02020603050405020304"/>
                <a:ea typeface="+mn-ea"/>
                <a:cs typeface="Times New Roman" panose="02020603050405020304"/>
              </a:rPr>
              <a:t>Dept.</a:t>
            </a:r>
            <a:r>
              <a:rPr kumimoji="0" lang="en-US" sz="1800" b="1" i="0" u="none" strike="noStrike" kern="1200" cap="none" spc="-35" normalizeH="0" baseline="0" noProof="0" dirty="0">
                <a:ln>
                  <a:noFill/>
                </a:ln>
                <a:solidFill>
                  <a:schemeClr val="tx1">
                    <a:lumMod val="95000"/>
                    <a:lumOff val="5000"/>
                  </a:schemeClr>
                </a:solidFill>
                <a:effectLst/>
                <a:uLnTx/>
                <a:uFillTx/>
                <a:latin typeface="Times New Roman" panose="02020603050405020304"/>
                <a:ea typeface="+mn-ea"/>
                <a:cs typeface="Times New Roman" panose="02020603050405020304"/>
              </a:rPr>
              <a:t> </a:t>
            </a:r>
            <a:r>
              <a:rPr kumimoji="0" lang="en-US" sz="1800" b="1" i="0" u="none" strike="noStrike" kern="1200" cap="none" spc="0" normalizeH="0" baseline="0" noProof="0" dirty="0">
                <a:ln>
                  <a:noFill/>
                </a:ln>
                <a:solidFill>
                  <a:schemeClr val="tx1">
                    <a:lumMod val="95000"/>
                    <a:lumOff val="5000"/>
                  </a:schemeClr>
                </a:solidFill>
                <a:effectLst/>
                <a:uLnTx/>
                <a:uFillTx/>
                <a:latin typeface="Times New Roman" panose="02020603050405020304"/>
                <a:ea typeface="+mn-ea"/>
                <a:cs typeface="Times New Roman" panose="02020603050405020304"/>
              </a:rPr>
              <a:t>of</a:t>
            </a:r>
            <a:r>
              <a:rPr kumimoji="0" lang="en-US" sz="1800" b="1" i="0" u="none" strike="noStrike" kern="1200" cap="none" spc="-30" normalizeH="0" baseline="0" noProof="0" dirty="0">
                <a:ln>
                  <a:noFill/>
                </a:ln>
                <a:solidFill>
                  <a:schemeClr val="tx1">
                    <a:lumMod val="95000"/>
                    <a:lumOff val="5000"/>
                  </a:schemeClr>
                </a:solidFill>
                <a:effectLst/>
                <a:uLnTx/>
                <a:uFillTx/>
                <a:latin typeface="Times New Roman" panose="02020603050405020304"/>
                <a:ea typeface="+mn-ea"/>
                <a:cs typeface="Times New Roman" panose="02020603050405020304"/>
              </a:rPr>
              <a:t> </a:t>
            </a:r>
            <a:r>
              <a:rPr kumimoji="0" lang="en-US" sz="1800" b="1" i="0" u="none" strike="noStrike" kern="1200" cap="none" spc="-5" normalizeH="0" baseline="0" noProof="0" dirty="0">
                <a:ln>
                  <a:noFill/>
                </a:ln>
                <a:solidFill>
                  <a:schemeClr val="tx1">
                    <a:lumMod val="95000"/>
                    <a:lumOff val="5000"/>
                  </a:schemeClr>
                </a:solidFill>
                <a:effectLst/>
                <a:uLnTx/>
                <a:uFillTx/>
                <a:latin typeface="Times New Roman" panose="02020603050405020304"/>
                <a:ea typeface="+mn-ea"/>
                <a:cs typeface="Times New Roman" panose="02020603050405020304"/>
              </a:rPr>
              <a:t>CSE.</a:t>
            </a:r>
            <a:endParaRPr kumimoji="0" lang="en-US" sz="1800" b="1" i="0" u="none" strike="noStrike" kern="1200" cap="none" spc="-5" normalizeH="0" baseline="0" noProof="0" dirty="0">
              <a:ln>
                <a:noFill/>
              </a:ln>
              <a:solidFill>
                <a:schemeClr val="tx1">
                  <a:lumMod val="95000"/>
                  <a:lumOff val="5000"/>
                </a:schemeClr>
              </a:solidFill>
              <a:effectLst/>
              <a:uLnTx/>
              <a:uFillTx/>
              <a:latin typeface="Times New Roman" panose="02020603050405020304"/>
              <a:ea typeface="+mn-ea"/>
              <a:cs typeface="Times New Roman" panose="02020603050405020304"/>
            </a:endParaRPr>
          </a:p>
          <a:p>
            <a:pPr marL="12700" defTabSz="914400">
              <a:spcBef>
                <a:spcPts val="655"/>
              </a:spcBef>
              <a:defRPr/>
            </a:pPr>
            <a:r>
              <a:rPr lang="en-US" b="1" spc="-5" dirty="0">
                <a:solidFill>
                  <a:schemeClr val="tx1">
                    <a:lumMod val="95000"/>
                    <a:lumOff val="5000"/>
                  </a:schemeClr>
                </a:solidFill>
                <a:latin typeface="Times New Roman" panose="02020603050405020304"/>
                <a:cs typeface="Times New Roman" panose="02020603050405020304"/>
              </a:rPr>
              <a:t>                                                             </a:t>
            </a:r>
            <a:r>
              <a:rPr kumimoji="0" lang="en-US" sz="1600" b="1" i="0" u="none" strike="noStrike" kern="1200" cap="none" spc="0" normalizeH="0" baseline="0" noProof="0" dirty="0">
                <a:ln>
                  <a:noFill/>
                </a:ln>
                <a:solidFill>
                  <a:srgbClr val="002060"/>
                </a:solidFill>
                <a:effectLst/>
                <a:uLnTx/>
                <a:uFillTx/>
                <a:latin typeface="Calibri" panose="020F0502020204030204"/>
                <a:ea typeface="+mn-ea"/>
                <a:cs typeface="+mn-cs"/>
              </a:rPr>
              <a:t>A.Y </a:t>
            </a:r>
            <a:r>
              <a:rPr kumimoji="0" lang="en-US" sz="1800" b="1" i="0" u="none" strike="noStrike" kern="1200" cap="none" spc="0" normalizeH="0" baseline="0" noProof="0" dirty="0">
                <a:ln>
                  <a:noFill/>
                </a:ln>
                <a:solidFill>
                  <a:srgbClr val="002060"/>
                </a:solidFill>
                <a:effectLst/>
                <a:uLnTx/>
                <a:uFillTx/>
                <a:latin typeface="Calibri" panose="020F0502020204030204"/>
                <a:ea typeface="+mn-ea"/>
                <a:cs typeface="+mn-cs"/>
              </a:rPr>
              <a:t>2024-2025 </a:t>
            </a:r>
            <a:endParaRPr kumimoji="0" lang="en-US" sz="1800" b="1" i="0" u="none" strike="noStrike" kern="1200" cap="none" spc="0" normalizeH="0" baseline="0" noProof="0" dirty="0">
              <a:ln>
                <a:noFill/>
              </a:ln>
              <a:solidFill>
                <a:srgbClr val="002060"/>
              </a:solidFill>
              <a:effectLst/>
              <a:uLnTx/>
              <a:uFillTx/>
              <a:latin typeface="Calibri" panose="020F0502020204030204"/>
              <a:ea typeface="+mn-ea"/>
              <a:cs typeface="+mn-cs"/>
            </a:endParaRPr>
          </a:p>
          <a:p>
            <a:pPr marL="12700" marR="0" lvl="0" indent="0" algn="l" defTabSz="914400" rtl="0" eaLnBrk="1" fontAlgn="auto" latinLnBrk="0" hangingPunct="1">
              <a:lnSpc>
                <a:spcPct val="100000"/>
              </a:lnSpc>
              <a:spcBef>
                <a:spcPts val="655"/>
              </a:spcBef>
              <a:spcAft>
                <a:spcPts val="0"/>
              </a:spcAft>
              <a:buClrTx/>
              <a:buSzTx/>
              <a:buFontTx/>
              <a:buNone/>
              <a:defRPr/>
            </a:pPr>
            <a:endParaRPr kumimoji="0" lang="en-US" sz="1800" b="0" i="0" u="none" strike="noStrike" kern="1200" cap="none" spc="0" normalizeH="0" baseline="0" noProof="0" dirty="0">
              <a:ln>
                <a:noFill/>
              </a:ln>
              <a:solidFill>
                <a:schemeClr val="tx1">
                  <a:lumMod val="95000"/>
                  <a:lumOff val="5000"/>
                </a:schemeClr>
              </a:solidFill>
              <a:effectLst/>
              <a:uLnTx/>
              <a:uFillTx/>
              <a:latin typeface="Times New Roman" panose="02020603050405020304"/>
              <a:ea typeface="+mn-ea"/>
              <a:cs typeface="Times New Roman" panose="02020603050405020304"/>
            </a:endParaRPr>
          </a:p>
        </p:txBody>
      </p:sp>
      <p:sp>
        <p:nvSpPr>
          <p:cNvPr id="16" name="TextBox 15"/>
          <p:cNvSpPr txBox="1"/>
          <p:nvPr/>
        </p:nvSpPr>
        <p:spPr>
          <a:xfrm>
            <a:off x="6756400" y="3558540"/>
            <a:ext cx="4321175" cy="1833245"/>
          </a:xfrm>
          <a:prstGeom prst="rect">
            <a:avLst/>
          </a:prstGeom>
          <a:noFill/>
        </p:spPr>
        <p:txBody>
          <a:bodyPr wrap="square">
            <a:spAutoFit/>
          </a:bodyPr>
          <a:lstStyle/>
          <a:p>
            <a:pPr marL="8890" marR="0" indent="0" algn="l" rtl="0" eaLnBrk="1" fontAlgn="auto" latinLnBrk="0" hangingPunct="1">
              <a:spcBef>
                <a:spcPts val="125"/>
              </a:spcBef>
              <a:spcAft>
                <a:spcPts val="0"/>
              </a:spcAft>
            </a:pPr>
            <a:r>
              <a:rPr lang="en-IN" sz="1800" b="1" i="0" kern="1200" spc="40" baseline="0" dirty="0">
                <a:ln>
                  <a:noFill/>
                </a:ln>
                <a:solidFill>
                  <a:schemeClr val="tx1">
                    <a:lumMod val="95000"/>
                    <a:lumOff val="5000"/>
                  </a:schemeClr>
                </a:solidFill>
                <a:effectLst/>
                <a:latin typeface="Times New Roman" panose="02020603050405020304" pitchFamily="18" charset="0"/>
                <a:ea typeface="+mn-ea"/>
                <a:cs typeface="Times New Roman" panose="02020603050405020304" pitchFamily="18" charset="0"/>
              </a:rPr>
              <a:t>Presented By</a:t>
            </a:r>
            <a:endParaRPr lang="en-IN" sz="1800" b="1" i="0" kern="1200" spc="40" baseline="0" dirty="0">
              <a:ln>
                <a:noFill/>
              </a:ln>
              <a:solidFill>
                <a:schemeClr val="tx1">
                  <a:lumMod val="95000"/>
                  <a:lumOff val="5000"/>
                </a:schemeClr>
              </a:solidFill>
              <a:latin typeface="Times New Roman" panose="02020603050405020304" pitchFamily="18" charset="0"/>
              <a:ea typeface="+mn-ea"/>
              <a:cs typeface="Times New Roman" panose="02020603050405020304" pitchFamily="18" charset="0"/>
            </a:endParaRPr>
          </a:p>
          <a:p>
            <a:pPr marL="8890" marR="0" indent="0" algn="l" rtl="0" eaLnBrk="1" fontAlgn="auto" latinLnBrk="0" hangingPunct="1">
              <a:spcBef>
                <a:spcPts val="125"/>
              </a:spcBef>
              <a:spcAft>
                <a:spcPts val="0"/>
              </a:spcAft>
            </a:pPr>
            <a:r>
              <a:rPr lang="en-US" altLang="en-IN" b="1" spc="40" dirty="0">
                <a:solidFill>
                  <a:schemeClr val="tx1">
                    <a:lumMod val="95000"/>
                    <a:lumOff val="5000"/>
                  </a:schemeClr>
                </a:solidFill>
                <a:latin typeface="Times New Roman" panose="02020603050405020304" pitchFamily="18" charset="0"/>
                <a:cs typeface="Times New Roman" panose="02020603050405020304" pitchFamily="18" charset="0"/>
              </a:rPr>
              <a:t>P.Kamal Kumar		</a:t>
            </a:r>
            <a:r>
              <a:rPr lang="en-IN" b="1" spc="40" dirty="0">
                <a:solidFill>
                  <a:schemeClr val="tx1">
                    <a:lumMod val="95000"/>
                    <a:lumOff val="5000"/>
                  </a:schemeClr>
                </a:solidFill>
                <a:latin typeface="Times New Roman" panose="02020603050405020304" pitchFamily="18" charset="0"/>
                <a:cs typeface="Times New Roman" panose="02020603050405020304" pitchFamily="18" charset="0"/>
              </a:rPr>
              <a:t>(218R1A05</a:t>
            </a:r>
            <a:r>
              <a:rPr lang="en-US" altLang="en-IN" b="1" spc="40" dirty="0">
                <a:solidFill>
                  <a:schemeClr val="tx1">
                    <a:lumMod val="95000"/>
                    <a:lumOff val="5000"/>
                  </a:schemeClr>
                </a:solidFill>
                <a:latin typeface="Times New Roman" panose="02020603050405020304" pitchFamily="18" charset="0"/>
                <a:cs typeface="Times New Roman" panose="02020603050405020304" pitchFamily="18" charset="0"/>
              </a:rPr>
              <a:t>O1</a:t>
            </a:r>
            <a:r>
              <a:rPr lang="en-IN" b="1" spc="40" dirty="0">
                <a:solidFill>
                  <a:schemeClr val="tx1">
                    <a:lumMod val="95000"/>
                    <a:lumOff val="5000"/>
                  </a:schemeClr>
                </a:solidFill>
                <a:latin typeface="Times New Roman" panose="02020603050405020304" pitchFamily="18" charset="0"/>
                <a:cs typeface="Times New Roman" panose="02020603050405020304" pitchFamily="18" charset="0"/>
              </a:rPr>
              <a:t>)</a:t>
            </a:r>
            <a:endParaRPr lang="en-IN" b="1" spc="40" dirty="0">
              <a:solidFill>
                <a:schemeClr val="tx1">
                  <a:lumMod val="95000"/>
                  <a:lumOff val="5000"/>
                </a:schemeClr>
              </a:solidFill>
              <a:latin typeface="Times New Roman" panose="02020603050405020304" pitchFamily="18" charset="0"/>
              <a:cs typeface="Times New Roman" panose="02020603050405020304" pitchFamily="18" charset="0"/>
            </a:endParaRPr>
          </a:p>
          <a:p>
            <a:pPr marL="8890" marR="0" indent="0" algn="l" rtl="0" eaLnBrk="1" fontAlgn="auto" latinLnBrk="0" hangingPunct="1">
              <a:spcBef>
                <a:spcPts val="125"/>
              </a:spcBef>
              <a:spcAft>
                <a:spcPts val="0"/>
              </a:spcAft>
            </a:pPr>
            <a:r>
              <a:rPr lang="en-US" altLang="en-IN" b="1" spc="40" dirty="0">
                <a:solidFill>
                  <a:schemeClr val="tx1">
                    <a:lumMod val="95000"/>
                    <a:lumOff val="5000"/>
                  </a:schemeClr>
                </a:solidFill>
                <a:latin typeface="Times New Roman" panose="02020603050405020304" pitchFamily="18" charset="0"/>
                <a:cs typeface="Times New Roman" panose="02020603050405020304" pitchFamily="18" charset="0"/>
              </a:rPr>
              <a:t>S.Rajender			</a:t>
            </a:r>
            <a:r>
              <a:rPr lang="en-IN" b="1" spc="40" dirty="0">
                <a:solidFill>
                  <a:schemeClr val="tx1">
                    <a:lumMod val="95000"/>
                    <a:lumOff val="5000"/>
                  </a:schemeClr>
                </a:solidFill>
                <a:latin typeface="Times New Roman" panose="02020603050405020304" pitchFamily="18" charset="0"/>
                <a:cs typeface="Times New Roman" panose="02020603050405020304" pitchFamily="18" charset="0"/>
              </a:rPr>
              <a:t>(218R1A05</a:t>
            </a:r>
            <a:r>
              <a:rPr lang="en-US" altLang="en-IN" b="1" spc="40" dirty="0">
                <a:solidFill>
                  <a:schemeClr val="tx1">
                    <a:lumMod val="95000"/>
                    <a:lumOff val="5000"/>
                  </a:schemeClr>
                </a:solidFill>
                <a:latin typeface="Times New Roman" panose="02020603050405020304" pitchFamily="18" charset="0"/>
                <a:cs typeface="Times New Roman" panose="02020603050405020304" pitchFamily="18" charset="0"/>
              </a:rPr>
              <a:t>P3</a:t>
            </a:r>
            <a:r>
              <a:rPr lang="en-IN" b="1" spc="40" dirty="0">
                <a:solidFill>
                  <a:schemeClr val="tx1">
                    <a:lumMod val="95000"/>
                    <a:lumOff val="5000"/>
                  </a:schemeClr>
                </a:solidFill>
                <a:latin typeface="Times New Roman" panose="02020603050405020304" pitchFamily="18" charset="0"/>
                <a:cs typeface="Times New Roman" panose="02020603050405020304" pitchFamily="18" charset="0"/>
              </a:rPr>
              <a:t>)</a:t>
            </a:r>
            <a:endParaRPr lang="en-IN" b="1" spc="40" dirty="0">
              <a:solidFill>
                <a:schemeClr val="tx1">
                  <a:lumMod val="95000"/>
                  <a:lumOff val="5000"/>
                </a:schemeClr>
              </a:solidFill>
              <a:latin typeface="Times New Roman" panose="02020603050405020304" pitchFamily="18" charset="0"/>
              <a:cs typeface="Times New Roman" panose="02020603050405020304" pitchFamily="18" charset="0"/>
            </a:endParaRPr>
          </a:p>
          <a:p>
            <a:pPr marL="8890" marR="0" indent="0" algn="l" rtl="0" eaLnBrk="1" fontAlgn="auto" latinLnBrk="0" hangingPunct="1">
              <a:spcBef>
                <a:spcPts val="125"/>
              </a:spcBef>
              <a:spcAft>
                <a:spcPts val="0"/>
              </a:spcAft>
            </a:pPr>
            <a:r>
              <a:rPr lang="en-US" altLang="en-IN" b="1" spc="40" dirty="0">
                <a:solidFill>
                  <a:schemeClr val="tx1">
                    <a:lumMod val="95000"/>
                    <a:lumOff val="5000"/>
                  </a:schemeClr>
                </a:solidFill>
                <a:effectLst/>
                <a:latin typeface="Times New Roman" panose="02020603050405020304" pitchFamily="18" charset="0"/>
                <a:cs typeface="Times New Roman" panose="02020603050405020304" pitchFamily="18" charset="0"/>
              </a:rPr>
              <a:t>B.Vidya Sagar Rao	</a:t>
            </a:r>
            <a:r>
              <a:rPr lang="en-IN" b="1" spc="40" dirty="0">
                <a:solidFill>
                  <a:schemeClr val="tx1">
                    <a:lumMod val="95000"/>
                    <a:lumOff val="5000"/>
                  </a:schemeClr>
                </a:solidFill>
                <a:effectLst/>
                <a:latin typeface="Times New Roman" panose="02020603050405020304" pitchFamily="18" charset="0"/>
                <a:cs typeface="Times New Roman" panose="02020603050405020304" pitchFamily="18" charset="0"/>
              </a:rPr>
              <a:t>(218R1A05</a:t>
            </a:r>
            <a:r>
              <a:rPr lang="en-US" altLang="en-IN" b="1" spc="40" dirty="0">
                <a:solidFill>
                  <a:schemeClr val="tx1">
                    <a:lumMod val="95000"/>
                    <a:lumOff val="5000"/>
                  </a:schemeClr>
                </a:solidFill>
                <a:effectLst/>
                <a:latin typeface="Times New Roman" panose="02020603050405020304" pitchFamily="18" charset="0"/>
                <a:cs typeface="Times New Roman" panose="02020603050405020304" pitchFamily="18" charset="0"/>
              </a:rPr>
              <a:t>K3</a:t>
            </a:r>
            <a:r>
              <a:rPr lang="en-IN" b="1" spc="40" dirty="0">
                <a:solidFill>
                  <a:schemeClr val="tx1">
                    <a:lumMod val="95000"/>
                    <a:lumOff val="5000"/>
                  </a:schemeClr>
                </a:solidFill>
                <a:effectLst/>
                <a:latin typeface="Times New Roman" panose="02020603050405020304" pitchFamily="18" charset="0"/>
                <a:cs typeface="Times New Roman" panose="02020603050405020304" pitchFamily="18" charset="0"/>
              </a:rPr>
              <a:t>)</a:t>
            </a:r>
            <a:endParaRPr lang="en-IN" b="1" spc="40" dirty="0">
              <a:solidFill>
                <a:schemeClr val="tx1">
                  <a:lumMod val="95000"/>
                  <a:lumOff val="5000"/>
                </a:schemeClr>
              </a:solidFill>
              <a:effectLst/>
              <a:latin typeface="Times New Roman" panose="02020603050405020304" pitchFamily="18" charset="0"/>
              <a:cs typeface="Times New Roman" panose="02020603050405020304" pitchFamily="18" charset="0"/>
            </a:endParaRPr>
          </a:p>
          <a:p>
            <a:pPr marL="8890" marR="0" indent="0" algn="l" rtl="0" eaLnBrk="1" fontAlgn="auto" latinLnBrk="0" hangingPunct="1">
              <a:spcBef>
                <a:spcPts val="125"/>
              </a:spcBef>
              <a:spcAft>
                <a:spcPts val="0"/>
              </a:spcAft>
            </a:pPr>
            <a:r>
              <a:rPr lang="en-US" altLang="en-IN" b="1" spc="40" dirty="0">
                <a:solidFill>
                  <a:schemeClr val="tx1">
                    <a:lumMod val="95000"/>
                    <a:lumOff val="5000"/>
                  </a:schemeClr>
                </a:solidFill>
                <a:latin typeface="Times New Roman" panose="02020603050405020304" pitchFamily="18" charset="0"/>
                <a:cs typeface="Times New Roman" panose="02020603050405020304" pitchFamily="18" charset="0"/>
              </a:rPr>
              <a:t>S.Ashmitha			</a:t>
            </a:r>
            <a:r>
              <a:rPr lang="en-IN" b="1" spc="40" dirty="0">
                <a:solidFill>
                  <a:schemeClr val="tx1">
                    <a:lumMod val="95000"/>
                    <a:lumOff val="5000"/>
                  </a:schemeClr>
                </a:solidFill>
                <a:latin typeface="Times New Roman" panose="02020603050405020304" pitchFamily="18" charset="0"/>
                <a:cs typeface="Times New Roman" panose="02020603050405020304" pitchFamily="18" charset="0"/>
              </a:rPr>
              <a:t>(218R1A05</a:t>
            </a:r>
            <a:r>
              <a:rPr lang="en-US" altLang="en-IN" b="1" spc="40" dirty="0">
                <a:solidFill>
                  <a:schemeClr val="tx1">
                    <a:lumMod val="95000"/>
                    <a:lumOff val="5000"/>
                  </a:schemeClr>
                </a:solidFill>
                <a:latin typeface="Times New Roman" panose="02020603050405020304" pitchFamily="18" charset="0"/>
                <a:cs typeface="Times New Roman" panose="02020603050405020304" pitchFamily="18" charset="0"/>
              </a:rPr>
              <a:t>O9</a:t>
            </a:r>
            <a:r>
              <a:rPr lang="en-IN" b="1" spc="40" dirty="0">
                <a:solidFill>
                  <a:schemeClr val="tx1">
                    <a:lumMod val="95000"/>
                    <a:lumOff val="5000"/>
                  </a:schemeClr>
                </a:solidFill>
                <a:latin typeface="Times New Roman" panose="02020603050405020304" pitchFamily="18" charset="0"/>
                <a:cs typeface="Times New Roman" panose="02020603050405020304" pitchFamily="18" charset="0"/>
              </a:rPr>
              <a:t>)</a:t>
            </a:r>
            <a:endParaRPr lang="en-IN" b="1" spc="40" dirty="0">
              <a:solidFill>
                <a:schemeClr val="tx1">
                  <a:lumMod val="95000"/>
                  <a:lumOff val="5000"/>
                </a:schemeClr>
              </a:solidFill>
              <a:latin typeface="Times New Roman" panose="02020603050405020304" pitchFamily="18" charset="0"/>
              <a:cs typeface="Times New Roman" panose="02020603050405020304" pitchFamily="18" charset="0"/>
            </a:endParaRPr>
          </a:p>
          <a:p>
            <a:pPr marL="8890" marR="0" indent="0" algn="l" rtl="0" eaLnBrk="1" fontAlgn="auto" latinLnBrk="0" hangingPunct="1">
              <a:spcBef>
                <a:spcPts val="125"/>
              </a:spcBef>
              <a:spcAft>
                <a:spcPts val="0"/>
              </a:spcAft>
            </a:pPr>
            <a:endParaRPr lang="en-IN" dirty="0">
              <a:effectLst/>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388638" y="0"/>
            <a:ext cx="9027822" cy="662473"/>
          </a:xfrm>
        </p:spPr>
        <p:txBody>
          <a:bodyPr>
            <a:normAutofit/>
          </a:bodyPr>
          <a:lstStyle/>
          <a:p>
            <a:r>
              <a:rPr lang="en-US" sz="2400" b="1" u="sng" dirty="0">
                <a:solidFill>
                  <a:schemeClr val="accent1"/>
                </a:solidFill>
                <a:latin typeface="Times New Roman" panose="02020603050405020304" pitchFamily="18" charset="0"/>
                <a:cs typeface="Times New Roman" panose="02020603050405020304" pitchFamily="18" charset="0"/>
              </a:rPr>
              <a:t>CONTENTS</a:t>
            </a:r>
            <a:endParaRPr lang="en-IN" sz="2400" b="1" u="sng" dirty="0">
              <a:solidFill>
                <a:schemeClr val="accent1"/>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2239347" y="429208"/>
            <a:ext cx="9265262" cy="6428793"/>
          </a:xfrm>
        </p:spPr>
        <p:txBody>
          <a:bodyPr>
            <a:noAutofit/>
          </a:bodyPr>
          <a:lstStyle/>
          <a:p>
            <a:pPr lvl="1"/>
            <a:r>
              <a:rPr lang="en-US" dirty="0">
                <a:latin typeface="Times New Roman" panose="02020603050405020304" pitchFamily="18" charset="0"/>
                <a:cs typeface="Times New Roman" panose="02020603050405020304" pitchFamily="18" charset="0"/>
              </a:rPr>
              <a:t>Abstract</a:t>
            </a:r>
            <a:endParaRPr lang="en-US" dirty="0">
              <a:latin typeface="Times New Roman" panose="02020603050405020304" pitchFamily="18" charset="0"/>
              <a:cs typeface="Times New Roman" panose="02020603050405020304" pitchFamily="18" charset="0"/>
            </a:endParaRPr>
          </a:p>
          <a:p>
            <a:pPr lvl="1"/>
            <a:r>
              <a:rPr lang="en-US" dirty="0">
                <a:latin typeface="Times New Roman" panose="02020603050405020304" pitchFamily="18" charset="0"/>
                <a:cs typeface="Times New Roman" panose="02020603050405020304" pitchFamily="18" charset="0"/>
              </a:rPr>
              <a:t>Aim</a:t>
            </a:r>
            <a:endParaRPr lang="en-US" dirty="0">
              <a:latin typeface="Times New Roman" panose="02020603050405020304" pitchFamily="18" charset="0"/>
              <a:cs typeface="Times New Roman" panose="02020603050405020304" pitchFamily="18" charset="0"/>
            </a:endParaRPr>
          </a:p>
          <a:p>
            <a:pPr lvl="1"/>
            <a:r>
              <a:rPr lang="en-US" dirty="0">
                <a:latin typeface="Times New Roman" panose="02020603050405020304" pitchFamily="18" charset="0"/>
                <a:cs typeface="Times New Roman" panose="02020603050405020304" pitchFamily="18" charset="0"/>
              </a:rPr>
              <a:t>Objectives</a:t>
            </a:r>
            <a:endParaRPr lang="en-US" dirty="0">
              <a:latin typeface="Times New Roman" panose="02020603050405020304" pitchFamily="18" charset="0"/>
              <a:cs typeface="Times New Roman" panose="02020603050405020304" pitchFamily="18" charset="0"/>
            </a:endParaRPr>
          </a:p>
          <a:p>
            <a:pPr lvl="1"/>
            <a:r>
              <a:rPr lang="en-US" dirty="0">
                <a:latin typeface="Times New Roman" panose="02020603050405020304" pitchFamily="18" charset="0"/>
                <a:cs typeface="Times New Roman" panose="02020603050405020304" pitchFamily="18" charset="0"/>
              </a:rPr>
              <a:t>Introduction</a:t>
            </a:r>
            <a:endParaRPr lang="en-US" dirty="0">
              <a:latin typeface="Times New Roman" panose="02020603050405020304" pitchFamily="18" charset="0"/>
              <a:cs typeface="Times New Roman" panose="02020603050405020304" pitchFamily="18" charset="0"/>
            </a:endParaRPr>
          </a:p>
          <a:p>
            <a:pPr lvl="1"/>
            <a:r>
              <a:rPr lang="en-US" dirty="0">
                <a:latin typeface="Times New Roman" panose="02020603050405020304" pitchFamily="18" charset="0"/>
                <a:cs typeface="Times New Roman" panose="02020603050405020304" pitchFamily="18" charset="0"/>
              </a:rPr>
              <a:t>Literature Survey</a:t>
            </a:r>
            <a:endParaRPr lang="en-US" dirty="0">
              <a:latin typeface="Times New Roman" panose="02020603050405020304" pitchFamily="18" charset="0"/>
              <a:cs typeface="Times New Roman" panose="02020603050405020304" pitchFamily="18" charset="0"/>
            </a:endParaRPr>
          </a:p>
          <a:p>
            <a:pPr lvl="1"/>
            <a:r>
              <a:rPr lang="en-US" dirty="0">
                <a:latin typeface="Times New Roman" panose="02020603050405020304" pitchFamily="18" charset="0"/>
                <a:cs typeface="Times New Roman" panose="02020603050405020304" pitchFamily="18" charset="0"/>
              </a:rPr>
              <a:t>Existing system</a:t>
            </a:r>
            <a:endParaRPr lang="en-US" dirty="0">
              <a:latin typeface="Times New Roman" panose="02020603050405020304" pitchFamily="18" charset="0"/>
              <a:cs typeface="Times New Roman" panose="02020603050405020304" pitchFamily="18" charset="0"/>
            </a:endParaRPr>
          </a:p>
          <a:p>
            <a:pPr lvl="1"/>
            <a:r>
              <a:rPr lang="en-US" dirty="0">
                <a:latin typeface="Times New Roman" panose="02020603050405020304" pitchFamily="18" charset="0"/>
                <a:cs typeface="Times New Roman" panose="02020603050405020304" pitchFamily="18" charset="0"/>
              </a:rPr>
              <a:t>Drawbacks of existing system</a:t>
            </a:r>
            <a:endParaRPr lang="en-US" dirty="0">
              <a:latin typeface="Times New Roman" panose="02020603050405020304" pitchFamily="18" charset="0"/>
              <a:cs typeface="Times New Roman" panose="02020603050405020304" pitchFamily="18" charset="0"/>
            </a:endParaRPr>
          </a:p>
          <a:p>
            <a:pPr lvl="1"/>
            <a:r>
              <a:rPr lang="en-US" dirty="0">
                <a:latin typeface="Times New Roman" panose="02020603050405020304" pitchFamily="18" charset="0"/>
                <a:cs typeface="Times New Roman" panose="02020603050405020304" pitchFamily="18" charset="0"/>
              </a:rPr>
              <a:t>Proposed system</a:t>
            </a:r>
            <a:endParaRPr lang="en-US" dirty="0">
              <a:latin typeface="Times New Roman" panose="02020603050405020304" pitchFamily="18" charset="0"/>
              <a:cs typeface="Times New Roman" panose="02020603050405020304" pitchFamily="18" charset="0"/>
            </a:endParaRPr>
          </a:p>
          <a:p>
            <a:pPr lvl="1"/>
            <a:r>
              <a:rPr lang="en-US" dirty="0">
                <a:latin typeface="Times New Roman" panose="02020603050405020304" pitchFamily="18" charset="0"/>
                <a:cs typeface="Times New Roman" panose="02020603050405020304" pitchFamily="18" charset="0"/>
              </a:rPr>
              <a:t>Advantages</a:t>
            </a:r>
            <a:endParaRPr lang="en-US" dirty="0">
              <a:latin typeface="Times New Roman" panose="02020603050405020304" pitchFamily="18" charset="0"/>
              <a:cs typeface="Times New Roman" panose="02020603050405020304" pitchFamily="18" charset="0"/>
            </a:endParaRPr>
          </a:p>
          <a:p>
            <a:pPr lvl="1"/>
            <a:r>
              <a:rPr lang="en-US" dirty="0">
                <a:latin typeface="Times New Roman" panose="02020603050405020304" pitchFamily="18" charset="0"/>
                <a:cs typeface="Times New Roman" panose="02020603050405020304" pitchFamily="18" charset="0"/>
              </a:rPr>
              <a:t>System Architecture</a:t>
            </a:r>
            <a:endParaRPr lang="en-US" dirty="0">
              <a:latin typeface="Times New Roman" panose="02020603050405020304" pitchFamily="18" charset="0"/>
              <a:cs typeface="Times New Roman" panose="02020603050405020304" pitchFamily="18" charset="0"/>
            </a:endParaRPr>
          </a:p>
          <a:p>
            <a:pPr lvl="1"/>
            <a:r>
              <a:rPr lang="en-US" dirty="0">
                <a:latin typeface="Times New Roman" panose="02020603050405020304" pitchFamily="18" charset="0"/>
                <a:cs typeface="Times New Roman" panose="02020603050405020304" pitchFamily="18" charset="0"/>
              </a:rPr>
              <a:t>Modules</a:t>
            </a:r>
            <a:endParaRPr lang="en-US" dirty="0">
              <a:latin typeface="Times New Roman" panose="02020603050405020304" pitchFamily="18" charset="0"/>
              <a:cs typeface="Times New Roman" panose="02020603050405020304" pitchFamily="18" charset="0"/>
            </a:endParaRPr>
          </a:p>
          <a:p>
            <a:pPr lvl="1"/>
            <a:r>
              <a:rPr lang="en-IN" dirty="0">
                <a:latin typeface="Times New Roman" panose="02020603050405020304" pitchFamily="18" charset="0"/>
                <a:cs typeface="Times New Roman" panose="02020603050405020304" pitchFamily="18" charset="0"/>
              </a:rPr>
              <a:t>System Requirements (Software &amp; Hardware)</a:t>
            </a:r>
            <a:endParaRPr lang="en-IN" dirty="0">
              <a:latin typeface="Times New Roman" panose="02020603050405020304" pitchFamily="18" charset="0"/>
              <a:cs typeface="Times New Roman" panose="02020603050405020304" pitchFamily="18" charset="0"/>
            </a:endParaRPr>
          </a:p>
          <a:p>
            <a:pPr lvl="1"/>
            <a:r>
              <a:rPr lang="en-IN" dirty="0">
                <a:latin typeface="Times New Roman" panose="02020603050405020304" pitchFamily="18" charset="0"/>
                <a:cs typeface="Times New Roman" panose="02020603050405020304" pitchFamily="18" charset="0"/>
              </a:rPr>
              <a:t>System Design</a:t>
            </a:r>
            <a:endParaRPr lang="en-IN" dirty="0">
              <a:latin typeface="Times New Roman" panose="02020603050405020304" pitchFamily="18" charset="0"/>
              <a:cs typeface="Times New Roman" panose="02020603050405020304" pitchFamily="18" charset="0"/>
            </a:endParaRPr>
          </a:p>
          <a:p>
            <a:pPr lvl="1"/>
            <a:r>
              <a:rPr lang="en-IN" dirty="0">
                <a:latin typeface="Times New Roman" panose="02020603050405020304" pitchFamily="18" charset="0"/>
                <a:cs typeface="Times New Roman" panose="02020603050405020304" pitchFamily="18" charset="0"/>
              </a:rPr>
              <a:t>Output Screens</a:t>
            </a:r>
            <a:endParaRPr lang="en-IN" dirty="0">
              <a:latin typeface="Times New Roman" panose="02020603050405020304" pitchFamily="18" charset="0"/>
              <a:cs typeface="Times New Roman" panose="02020603050405020304" pitchFamily="18" charset="0"/>
            </a:endParaRPr>
          </a:p>
          <a:p>
            <a:pPr lvl="1"/>
            <a:r>
              <a:rPr lang="en-IN" dirty="0">
                <a:latin typeface="Times New Roman" panose="02020603050405020304" pitchFamily="18" charset="0"/>
                <a:cs typeface="Times New Roman" panose="02020603050405020304" pitchFamily="18" charset="0"/>
              </a:rPr>
              <a:t>Future Enhancement</a:t>
            </a:r>
            <a:endParaRPr lang="en-IN" dirty="0">
              <a:latin typeface="Times New Roman" panose="02020603050405020304" pitchFamily="18" charset="0"/>
              <a:cs typeface="Times New Roman" panose="02020603050405020304" pitchFamily="18" charset="0"/>
            </a:endParaRPr>
          </a:p>
          <a:p>
            <a:pPr lvl="1"/>
            <a:r>
              <a:rPr lang="en-IN" dirty="0">
                <a:latin typeface="Times New Roman" panose="02020603050405020304" pitchFamily="18" charset="0"/>
                <a:cs typeface="Times New Roman" panose="02020603050405020304" pitchFamily="18" charset="0"/>
              </a:rPr>
              <a:t>Conclusion</a:t>
            </a:r>
            <a:endParaRPr lang="en-IN" dirty="0">
              <a:latin typeface="Times New Roman" panose="02020603050405020304" pitchFamily="18" charset="0"/>
              <a:cs typeface="Times New Roman" panose="02020603050405020304" pitchFamily="18" charset="0"/>
            </a:endParaRPr>
          </a:p>
          <a:p>
            <a:pPr lvl="1"/>
            <a:r>
              <a:rPr lang="en-IN" dirty="0">
                <a:latin typeface="Times New Roman" panose="02020603050405020304" pitchFamily="18" charset="0"/>
                <a:cs typeface="Times New Roman" panose="02020603050405020304" pitchFamily="18" charset="0"/>
              </a:rPr>
              <a:t>References</a:t>
            </a:r>
            <a:endParaRPr lang="en-IN" dirty="0">
              <a:latin typeface="Times New Roman" panose="02020603050405020304" pitchFamily="18" charset="0"/>
              <a:cs typeface="Times New Roman" panose="02020603050405020304" pitchFamily="18" charset="0"/>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99372" y="633440"/>
            <a:ext cx="8911687" cy="1280890"/>
          </a:xfrm>
        </p:spPr>
        <p:txBody>
          <a:bodyPr>
            <a:normAutofit/>
          </a:bodyPr>
          <a:lstStyle/>
          <a:p>
            <a:r>
              <a:rPr lang="en-US" sz="4000" b="1" u="sng" dirty="0">
                <a:solidFill>
                  <a:schemeClr val="accent1"/>
                </a:solidFill>
                <a:latin typeface="Times New Roman" panose="02020603050405020304" pitchFamily="18" charset="0"/>
                <a:cs typeface="Times New Roman" panose="02020603050405020304" pitchFamily="18" charset="0"/>
              </a:rPr>
              <a:t>ABSTRACT</a:t>
            </a:r>
            <a:endParaRPr lang="en-IN" sz="4000" b="1" u="sng" dirty="0">
              <a:solidFill>
                <a:schemeClr val="accent1"/>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2585499" y="2043987"/>
            <a:ext cx="8915400" cy="3777622"/>
          </a:xfrm>
        </p:spPr>
        <p:txBody>
          <a:bodyPr/>
          <a:lstStyle/>
          <a:p>
            <a:pPr marL="12065" algn="just">
              <a:lnSpc>
                <a:spcPct val="100000"/>
              </a:lnSpc>
              <a:spcBef>
                <a:spcPts val="370"/>
              </a:spcBef>
              <a:buClr>
                <a:srgbClr val="666666"/>
              </a:buClr>
              <a:tabLst>
                <a:tab pos="347980" algn="l"/>
                <a:tab pos="349250" algn="l"/>
              </a:tabLst>
            </a:pPr>
            <a:r>
              <a:rPr lang="en-US" dirty="0">
                <a:latin typeface="Times New Roman" panose="02020603050405020304" pitchFamily="18" charset="0"/>
                <a:cs typeface="Times New Roman" panose="02020603050405020304" pitchFamily="18" charset="0"/>
              </a:rPr>
              <a:t>The project titled "Leaf Disease Detection Using Deep Learning" aims to leverage advanced machine learning techniques to identify and classify diseases affecting plant leaves. Traditional methods of leaf disease detection, including manual inspection and chemical tests, are not only labor-intensive but also prone to inaccuracies. By employing deep learning, specifically Convolutional Neural Networks (CNNs), this project seeks to automate the detection process, enhancing both the accuracy and efficiency of diagnosing leaf diseases. The system will process leaf images, classify them into healthy or diseased categories, and identify the type of disease with high confidence. This approach is expected to significantly reduce the time required for disease detection, leading to timely intervention and improved crop management</a:t>
            </a:r>
            <a:r>
              <a:rPr lang="en-US" dirty="0"/>
              <a:t>.</a:t>
            </a:r>
            <a:endParaRPr lang="en-US" sz="1400" dirty="0">
              <a:latin typeface="Arial MT"/>
              <a:cs typeface="Arial MT"/>
            </a:endParaRPr>
          </a:p>
        </p:txBody>
      </p:sp>
    </p:spTree>
  </p:cSld>
  <p:clrMapOvr>
    <a:masterClrMapping/>
  </p:clrMapOvr>
  <mc:AlternateContent xmlns:mc="http://schemas.openxmlformats.org/markup-compatibility/2006">
    <mc:Choice xmlns:p14="http://schemas.microsoft.com/office/powerpoint/2010/main" Requires="p14">
      <p:transition spd="slow" p14:dur="800">
        <p:circle/>
      </p:transition>
    </mc:Choice>
    <mc:Fallback>
      <p:transition spd="slow">
        <p:circl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b="1" u="sng" dirty="0">
                <a:solidFill>
                  <a:schemeClr val="accent1"/>
                </a:solidFill>
                <a:latin typeface="Times New Roman" panose="02020603050405020304" pitchFamily="18" charset="0"/>
                <a:cs typeface="Times New Roman" panose="02020603050405020304" pitchFamily="18" charset="0"/>
              </a:rPr>
              <a:t>Aim</a:t>
            </a:r>
            <a:endParaRPr lang="en-IN" sz="4000" b="1" u="sng" dirty="0">
              <a:solidFill>
                <a:schemeClr val="accent1"/>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2592925" y="1839686"/>
            <a:ext cx="8915400" cy="3777622"/>
          </a:xfrm>
        </p:spPr>
        <p:txBody>
          <a:bodyPr/>
          <a:lstStyle/>
          <a:p>
            <a:pPr algn="just"/>
            <a:r>
              <a:rPr lang="en-US" dirty="0">
                <a:latin typeface="Times New Roman" panose="02020603050405020304" pitchFamily="18" charset="0"/>
                <a:cs typeface="Times New Roman" panose="02020603050405020304" pitchFamily="18" charset="0"/>
              </a:rPr>
              <a:t>The main goal of my project, "Leaf Disease Detection Using Deep Learning," is to accurately identify and classify various diseases affecting plant leaves. By analyzing images of leaves, the system aims to assist farmers and agriculturists in early disease detection, thereby improving crop yield and reducing economic losses.</a:t>
            </a:r>
            <a:endParaRPr lang="en-US" dirty="0">
              <a:latin typeface="Times New Roman" panose="02020603050405020304" pitchFamily="18" charset="0"/>
              <a:cs typeface="Times New Roman" panose="02020603050405020304" pitchFamily="18" charset="0"/>
            </a:endParaRPr>
          </a:p>
          <a:p>
            <a:pPr algn="just"/>
            <a:r>
              <a:rPr lang="en-US" dirty="0">
                <a:latin typeface="Times New Roman" panose="02020603050405020304" pitchFamily="18" charset="0"/>
                <a:cs typeface="Times New Roman" panose="02020603050405020304" pitchFamily="18" charset="0"/>
              </a:rPr>
              <a:t>To achieve this, the project employs a deep learning model trained on a large dataset of leaf images. The system uses convolutional neural networks (CNNs) to process the images and identify disease patterns with high precision. The results demonstrate that this approach provides reliable and efficient disease detection, significantly outperforming traditional methods</a:t>
            </a:r>
            <a:r>
              <a:rPr lang="en-US" dirty="0"/>
              <a:t>.</a:t>
            </a:r>
            <a:endParaRPr lang="en-IN" dirty="0">
              <a:latin typeface="Times New Roman" panose="02020603050405020304" pitchFamily="18" charset="0"/>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spd="slow" p14:dur="800">
        <p:circle/>
      </p:transition>
    </mc:Choice>
    <mc:Fallback>
      <p:transition spd="slow">
        <p:circl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92925" y="334861"/>
            <a:ext cx="8911687" cy="1280890"/>
          </a:xfrm>
        </p:spPr>
        <p:txBody>
          <a:bodyPr>
            <a:normAutofit/>
          </a:bodyPr>
          <a:lstStyle/>
          <a:p>
            <a:r>
              <a:rPr lang="en-US" sz="4000" b="1" u="sng" dirty="0">
                <a:solidFill>
                  <a:schemeClr val="accent1"/>
                </a:solidFill>
                <a:latin typeface="Times New Roman" panose="02020603050405020304" pitchFamily="18" charset="0"/>
                <a:cs typeface="Times New Roman" panose="02020603050405020304" pitchFamily="18" charset="0"/>
              </a:rPr>
              <a:t>OBJECTIVES</a:t>
            </a:r>
            <a:endParaRPr lang="en-IN" sz="4000" b="1" u="sng" dirty="0">
              <a:solidFill>
                <a:schemeClr val="accent1"/>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2589212" y="1310811"/>
            <a:ext cx="8915400" cy="4236377"/>
          </a:xfrm>
        </p:spPr>
        <p:txBody>
          <a:bodyPr>
            <a:noAutofit/>
          </a:bodyPr>
          <a:lstStyle/>
          <a:p>
            <a:r>
              <a:rPr lang="en-US" dirty="0">
                <a:latin typeface="Times New Roman" panose="02020603050405020304" pitchFamily="18" charset="0"/>
                <a:cs typeface="Times New Roman" panose="02020603050405020304" pitchFamily="18" charset="0"/>
              </a:rPr>
              <a:t>Analyze a large dataset of leaf images to identify and classify various plant diseases accurately.</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Develop a deep learning model using convolutional neural networks (CNNs) to efficiently detect and diagnose diseases from leaf images.</a:t>
            </a:r>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Investigate the feasibility and effectiveness of using deep learning techniques for early disease detection in plants.</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Examine the potential of automated disease detection systems to assist farmers and agriculturists in improving crop yield and reducing economic losses.</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Enhance our understanding of plant disease patterns by leveraging advanced image processing and deep learning algorithms.</a:t>
            </a:r>
            <a:endParaRPr lang="en-IN" dirty="0">
              <a:latin typeface="Times New Roman" panose="02020603050405020304" pitchFamily="18" charset="0"/>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spd="slow" p14:dur="800">
        <p:circle/>
      </p:transition>
    </mc:Choice>
    <mc:Fallback>
      <p:transition spd="slow">
        <p:circl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62064" y="531845"/>
            <a:ext cx="9433217" cy="1280890"/>
          </a:xfrm>
        </p:spPr>
        <p:txBody>
          <a:bodyPr>
            <a:normAutofit/>
          </a:bodyPr>
          <a:lstStyle/>
          <a:p>
            <a:r>
              <a:rPr lang="en-US" b="1" u="sng" dirty="0">
                <a:solidFill>
                  <a:schemeClr val="accent1"/>
                </a:solidFill>
                <a:latin typeface="Times New Roman" panose="02020603050405020304" pitchFamily="18" charset="0"/>
                <a:cs typeface="Times New Roman" panose="02020603050405020304" pitchFamily="18" charset="0"/>
              </a:rPr>
              <a:t>INTRODUCTION</a:t>
            </a:r>
            <a:endParaRPr lang="en-IN" b="1" u="sng" dirty="0">
              <a:solidFill>
                <a:schemeClr val="accent1"/>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2062064" y="1812735"/>
            <a:ext cx="9647853" cy="4785966"/>
          </a:xfrm>
        </p:spPr>
        <p:txBody>
          <a:bodyPr/>
          <a:lstStyle/>
          <a:p>
            <a:r>
              <a:rPr lang="en-US" dirty="0">
                <a:latin typeface="Times New Roman" panose="02020603050405020304" pitchFamily="18" charset="0"/>
                <a:cs typeface="Times New Roman" panose="02020603050405020304" pitchFamily="18" charset="0"/>
              </a:rPr>
              <a:t>Leaf disease detection has become one of the most critical aspects of precision agriculture. The task is to automatically identify and classify various plant diseases from images of leaves based on their visual symptoms.</a:t>
            </a:r>
            <a:endParaRPr lang="en-US" dirty="0">
              <a:latin typeface="Times New Roman" panose="02020603050405020304" pitchFamily="18" charset="0"/>
              <a:cs typeface="Times New Roman" panose="02020603050405020304" pitchFamily="18" charset="0"/>
            </a:endParaRPr>
          </a:p>
          <a:p>
            <a:pPr algn="l"/>
            <a:r>
              <a:rPr lang="en-US" dirty="0">
                <a:latin typeface="Times New Roman" panose="02020603050405020304" pitchFamily="18" charset="0"/>
                <a:cs typeface="Times New Roman" panose="02020603050405020304" pitchFamily="18" charset="0"/>
              </a:rPr>
              <a:t>Many algorithms have been developed to address the challenge of leaf disease detection. Among these, deep learning techniques, particularly convolutional neural networks (CNNs), have shown remarkable success in the automation of image-based disease identification.</a:t>
            </a:r>
            <a:endParaRPr lang="en-US" b="0" i="0" dirty="0">
              <a:solidFill>
                <a:srgbClr val="000000"/>
              </a:solidFill>
              <a:effectLst/>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It has been observed that for the purpose of leaf disease detection, deep learning models can effectively learn and identify complex patterns from large datasets of annotated leaf images. These models can significantly enhance the accuracy and speed of disease diagnosis, providing valuable insights and support to farmers and agriculturists.</a:t>
            </a:r>
            <a:endParaRPr lang="en-IN" dirty="0">
              <a:latin typeface="Times New Roman" panose="02020603050405020304" pitchFamily="18" charset="0"/>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spd="slow" p14:dur="800">
        <p:circle/>
      </p:transition>
    </mc:Choice>
    <mc:Fallback>
      <p:transition spd="slow">
        <p:circl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07706" y="74645"/>
            <a:ext cx="10496906" cy="597159"/>
          </a:xfrm>
        </p:spPr>
        <p:txBody>
          <a:bodyPr>
            <a:normAutofit fontScale="90000"/>
          </a:bodyPr>
          <a:lstStyle/>
          <a:p>
            <a:r>
              <a:rPr lang="en-US" b="1" u="sng" dirty="0">
                <a:solidFill>
                  <a:schemeClr val="accent1"/>
                </a:solidFill>
              </a:rPr>
              <a:t>Literature Survey:</a:t>
            </a:r>
            <a:endParaRPr lang="en-IN" b="1" u="sng" dirty="0">
              <a:solidFill>
                <a:schemeClr val="accent1"/>
              </a:solidFill>
            </a:endParaRPr>
          </a:p>
        </p:txBody>
      </p:sp>
      <p:graphicFrame>
        <p:nvGraphicFramePr>
          <p:cNvPr id="4" name="Content Placeholder 3"/>
          <p:cNvGraphicFramePr>
            <a:graphicFrameLocks noGrp="1"/>
          </p:cNvGraphicFramePr>
          <p:nvPr>
            <p:ph idx="1"/>
          </p:nvPr>
        </p:nvGraphicFramePr>
        <p:xfrm>
          <a:off x="1007706" y="597160"/>
          <a:ext cx="10245014" cy="6186196"/>
        </p:xfrm>
        <a:graphic>
          <a:graphicData uri="http://schemas.openxmlformats.org/drawingml/2006/table">
            <a:tbl>
              <a:tblPr firstRow="1" bandRow="1">
                <a:tableStyleId>{5C22544A-7EE6-4342-B048-85BDC9FD1C3A}</a:tableStyleId>
              </a:tblPr>
              <a:tblGrid>
                <a:gridCol w="1791478"/>
                <a:gridCol w="3650836"/>
                <a:gridCol w="2873374"/>
                <a:gridCol w="1929326"/>
              </a:tblGrid>
              <a:tr h="737526">
                <a:tc>
                  <a:txBody>
                    <a:bodyPr/>
                    <a:lstStyle/>
                    <a:p>
                      <a:r>
                        <a:rPr lang="en-US" sz="1600" dirty="0"/>
                        <a:t>AUTHORS</a:t>
                      </a:r>
                      <a:endParaRPr lang="en-US" sz="1600" dirty="0"/>
                    </a:p>
                    <a:p>
                      <a:r>
                        <a:rPr lang="en-US" sz="1600" dirty="0"/>
                        <a:t>NAME</a:t>
                      </a:r>
                      <a:endParaRPr lang="en-IN" sz="1600" dirty="0"/>
                    </a:p>
                  </a:txBody>
                  <a:tcPr/>
                </a:tc>
                <a:tc>
                  <a:txBody>
                    <a:bodyPr/>
                    <a:lstStyle/>
                    <a:p>
                      <a:r>
                        <a:rPr lang="en-US" sz="1600" dirty="0"/>
                        <a:t>PAPER TITLE AND PUBLISHING YEAR</a:t>
                      </a:r>
                      <a:endParaRPr lang="en-IN" sz="1600" dirty="0"/>
                    </a:p>
                  </a:txBody>
                  <a:tcPr/>
                </a:tc>
                <a:tc>
                  <a:txBody>
                    <a:bodyPr/>
                    <a:lstStyle/>
                    <a:p>
                      <a:r>
                        <a:rPr lang="en-US" sz="1600" dirty="0"/>
                        <a:t>METHODOLOGY</a:t>
                      </a:r>
                      <a:endParaRPr lang="en-IN" sz="1600" dirty="0"/>
                    </a:p>
                  </a:txBody>
                  <a:tcPr/>
                </a:tc>
                <a:tc>
                  <a:txBody>
                    <a:bodyPr/>
                    <a:lstStyle/>
                    <a:p>
                      <a:r>
                        <a:rPr lang="en-US" sz="1600" dirty="0"/>
                        <a:t>KEY FINDINGS</a:t>
                      </a:r>
                      <a:endParaRPr lang="en-IN" sz="1600" dirty="0"/>
                    </a:p>
                  </a:txBody>
                  <a:tcPr/>
                </a:tc>
              </a:tr>
              <a:tr h="1386348">
                <a:tc>
                  <a:txBody>
                    <a:bodyPr/>
                    <a:lstStyle/>
                    <a:p>
                      <a:r>
                        <a:rPr lang="en-US" sz="1600" dirty="0"/>
                        <a:t>Hang Gao</a:t>
                      </a:r>
                      <a:endParaRPr lang="en-IN" sz="1600" dirty="0"/>
                    </a:p>
                  </a:txBody>
                  <a:tcPr/>
                </a:tc>
                <a:tc>
                  <a:txBody>
                    <a:bodyPr/>
                    <a:lstStyle/>
                    <a:p>
                      <a:r>
                        <a:rPr lang="en-US" sz="1600" dirty="0"/>
                        <a:t>“Spam sorting based on Naïve Bayes Algorithm”, 2023</a:t>
                      </a:r>
                      <a:endParaRPr lang="en-IN" sz="1600" dirty="0"/>
                    </a:p>
                  </a:txBody>
                  <a:tcPr/>
                </a:tc>
                <a:tc>
                  <a:txBody>
                    <a:bodyPr/>
                    <a:lstStyle/>
                    <a:p>
                      <a:r>
                        <a:rPr lang="en-US" sz="1600"/>
                        <a:t>Naïve’s Bayes Algorithm</a:t>
                      </a:r>
                      <a:endParaRPr lang="en-IN" sz="1600" dirty="0"/>
                    </a:p>
                  </a:txBody>
                  <a:tcPr/>
                </a:tc>
                <a:tc>
                  <a:txBody>
                    <a:bodyPr/>
                    <a:lstStyle/>
                    <a:p>
                      <a:r>
                        <a:rPr lang="en-US" sz="1600" dirty="0"/>
                        <a:t>Efficient spam classification, minimizing wastage of network</a:t>
                      </a:r>
                      <a:endParaRPr lang="en-IN" sz="1600" dirty="0"/>
                    </a:p>
                  </a:txBody>
                  <a:tcPr/>
                </a:tc>
              </a:tr>
              <a:tr h="1902199">
                <a:tc>
                  <a:txBody>
                    <a:bodyPr/>
                    <a:lstStyle/>
                    <a:p>
                      <a:r>
                        <a:rPr lang="en-IN" sz="1600" dirty="0" err="1"/>
                        <a:t>Lathish</a:t>
                      </a:r>
                      <a:r>
                        <a:rPr lang="en-IN" sz="1600" dirty="0"/>
                        <a:t>. A, Devi. T</a:t>
                      </a:r>
                      <a:endParaRPr lang="en-IN" sz="1600" dirty="0"/>
                    </a:p>
                  </a:txBody>
                  <a:tcPr/>
                </a:tc>
                <a:tc>
                  <a:txBody>
                    <a:bodyPr/>
                    <a:lstStyle/>
                    <a:p>
                      <a:r>
                        <a:rPr lang="en-US" sz="1600" dirty="0"/>
                        <a:t>“Comparison of Support Vector Machine and K Nearest </a:t>
                      </a:r>
                      <a:r>
                        <a:rPr lang="en-US" sz="1600" dirty="0" err="1"/>
                        <a:t>Neighbour</a:t>
                      </a:r>
                      <a:r>
                        <a:rPr lang="en-US" sz="1600" dirty="0"/>
                        <a:t> Algorithm for Accurate text Classification”, 2022</a:t>
                      </a:r>
                      <a:endParaRPr lang="en-IN" sz="1600" dirty="0"/>
                    </a:p>
                  </a:txBody>
                  <a:tcPr/>
                </a:tc>
                <a:tc>
                  <a:txBody>
                    <a:bodyPr/>
                    <a:lstStyle/>
                    <a:p>
                      <a:r>
                        <a:rPr lang="en-US" sz="1600" dirty="0"/>
                        <a:t>Emotion Recognition, Machine Learning, Novel Classification of Text, K-Nearest </a:t>
                      </a:r>
                      <a:r>
                        <a:rPr lang="en-US" sz="1600" dirty="0" err="1"/>
                        <a:t>Neighbour</a:t>
                      </a:r>
                      <a:r>
                        <a:rPr lang="en-US" sz="1600" dirty="0"/>
                        <a:t> Algorithm, Support Vector Machine, Segmentation Analysis Processing.</a:t>
                      </a:r>
                      <a:endParaRPr lang="en-IN" sz="1600" dirty="0"/>
                    </a:p>
                  </a:txBody>
                  <a:tcPr/>
                </a:tc>
                <a:tc>
                  <a:txBody>
                    <a:bodyPr/>
                    <a:lstStyle/>
                    <a:p>
                      <a:r>
                        <a:rPr lang="en-US" sz="1600" dirty="0"/>
                        <a:t>Efficient human emotions through newspapers</a:t>
                      </a:r>
                      <a:endParaRPr lang="en-IN" sz="1600" dirty="0"/>
                    </a:p>
                  </a:txBody>
                  <a:tcPr/>
                </a:tc>
              </a:tr>
              <a:tr h="2160123">
                <a:tc>
                  <a:txBody>
                    <a:bodyPr/>
                    <a:lstStyle/>
                    <a:p>
                      <a:r>
                        <a:rPr lang="en-US" sz="1600" dirty="0" err="1"/>
                        <a:t>Manoj.V</a:t>
                      </a:r>
                      <a:r>
                        <a:rPr lang="en-US" sz="1600" dirty="0"/>
                        <a:t> and </a:t>
                      </a:r>
                      <a:r>
                        <a:rPr lang="en-US" sz="1600" dirty="0" err="1"/>
                        <a:t>Devi.T</a:t>
                      </a:r>
                      <a:endParaRPr lang="en-IN" sz="1600" dirty="0"/>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defRPr/>
                      </a:pPr>
                      <a:r>
                        <a:rPr lang="en-US" sz="1600" dirty="0"/>
                        <a:t>“An Effective Approach for Newspaper Article Classification using Multi-Class Support Vector Machine in Comparison with Binary Classifier to improve Accuracy”, 2023</a:t>
                      </a:r>
                      <a:endParaRPr lang="en-IN" sz="1600" dirty="0"/>
                    </a:p>
                  </a:txBody>
                  <a:tcPr/>
                </a:tc>
                <a:tc>
                  <a:txBody>
                    <a:bodyPr/>
                    <a:lstStyle/>
                    <a:p>
                      <a:r>
                        <a:rPr lang="en-IN" sz="1600" dirty="0"/>
                        <a:t>Binary Classifier(BC), Machine Learning, Novel Text Classification, Support Vector Machine, Text Analysis, Article classification</a:t>
                      </a:r>
                      <a:endParaRPr lang="en-IN" sz="1600" dirty="0"/>
                    </a:p>
                  </a:txBody>
                  <a:tcPr/>
                </a:tc>
                <a:tc>
                  <a:txBody>
                    <a:bodyPr/>
                    <a:lstStyle/>
                    <a:p>
                      <a:r>
                        <a:rPr lang="en-US" sz="1600" dirty="0"/>
                        <a:t>Effective methods for finding the best outcome of accuracy better than the existing system of Binary Classifiers.</a:t>
                      </a:r>
                      <a:endParaRPr lang="en-IN" sz="1600" dirty="0"/>
                    </a:p>
                  </a:txBody>
                  <a:tcPr/>
                </a:tc>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b="1" u="sng" dirty="0">
                <a:solidFill>
                  <a:schemeClr val="accent1"/>
                </a:solidFill>
                <a:latin typeface="Times New Roman" panose="02020603050405020304" pitchFamily="18" charset="0"/>
                <a:cs typeface="Times New Roman" panose="02020603050405020304" pitchFamily="18" charset="0"/>
              </a:rPr>
              <a:t>EXISTING SYSTEM</a:t>
            </a:r>
            <a:endParaRPr lang="en-IN" sz="4000" b="1" u="sng" dirty="0">
              <a:solidFill>
                <a:schemeClr val="accent1"/>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2589212" y="1661486"/>
            <a:ext cx="8915400" cy="5054274"/>
          </a:xfrm>
        </p:spPr>
        <p:txBody>
          <a:bodyPr>
            <a:noAutofit/>
          </a:bodyPr>
          <a:lstStyle/>
          <a:p>
            <a:pPr marL="0" marR="0" lvl="0" indent="0" algn="l" defTabSz="914400" rtl="0" eaLnBrk="0" fontAlgn="base" latinLnBrk="0" hangingPunct="0">
              <a:lnSpc>
                <a:spcPct val="100000"/>
              </a:lnSpc>
              <a:spcBef>
                <a:spcPct val="0"/>
              </a:spcBef>
              <a:spcAft>
                <a:spcPct val="0"/>
              </a:spcAft>
              <a:buClrTx/>
              <a:buSzTx/>
              <a:buFontTx/>
              <a:buChar char="•"/>
            </a:pPr>
            <a:r>
              <a:rPr kumimoji="0" lang="en-US" altLang="en-US"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Manual Methods:</a:t>
            </a:r>
            <a:endPar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457200" marR="0" lvl="1" indent="0" algn="l" defTabSz="914400" rtl="0" eaLnBrk="0" fontAlgn="base" latinLnBrk="0" hangingPunct="0">
              <a:lnSpc>
                <a:spcPct val="100000"/>
              </a:lnSpc>
              <a:spcBef>
                <a:spcPct val="0"/>
              </a:spcBef>
              <a:spcAft>
                <a:spcPct val="0"/>
              </a:spcAft>
              <a:buClrTx/>
              <a:buSzTx/>
              <a:buFontTx/>
              <a:buChar char="•"/>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Experts visually inspect plant leaves for disease symptoms.</a:t>
            </a: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457200" marR="0" lvl="1" indent="0" algn="l" defTabSz="914400" rtl="0" eaLnBrk="0" fontAlgn="base" latinLnBrk="0" hangingPunct="0">
              <a:lnSpc>
                <a:spcPct val="100000"/>
              </a:lnSpc>
              <a:spcBef>
                <a:spcPct val="0"/>
              </a:spcBef>
              <a:spcAft>
                <a:spcPct val="0"/>
              </a:spcAft>
              <a:buClrTx/>
              <a:buSzTx/>
              <a:buFontTx/>
              <a:buChar char="•"/>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Time-consuming process.</a:t>
            </a: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457200" marR="0" lvl="1" indent="0" algn="l" defTabSz="914400" rtl="0" eaLnBrk="0" fontAlgn="base" latinLnBrk="0" hangingPunct="0">
              <a:lnSpc>
                <a:spcPct val="100000"/>
              </a:lnSpc>
              <a:spcBef>
                <a:spcPct val="0"/>
              </a:spcBef>
              <a:spcAft>
                <a:spcPct val="0"/>
              </a:spcAft>
              <a:buClrTx/>
              <a:buSzTx/>
              <a:buFontTx/>
              <a:buChar char="•"/>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Prone to subjective errors and inconsistencies.</a:t>
            </a: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pPr>
            <a:r>
              <a:rPr kumimoji="0" lang="en-US" altLang="en-US"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Chemical Testing:</a:t>
            </a:r>
            <a:endPar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457200" marR="0" lvl="1" indent="0" algn="l" defTabSz="914400" rtl="0" eaLnBrk="0" fontAlgn="base" latinLnBrk="0" hangingPunct="0">
              <a:lnSpc>
                <a:spcPct val="100000"/>
              </a:lnSpc>
              <a:spcBef>
                <a:spcPct val="0"/>
              </a:spcBef>
              <a:spcAft>
                <a:spcPct val="0"/>
              </a:spcAft>
              <a:buClrTx/>
              <a:buSzTx/>
              <a:buFontTx/>
              <a:buChar char="•"/>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Objective method for detecting diseases.</a:t>
            </a: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457200" marR="0" lvl="1" indent="0" algn="l" defTabSz="914400" rtl="0" eaLnBrk="0" fontAlgn="base" latinLnBrk="0" hangingPunct="0">
              <a:lnSpc>
                <a:spcPct val="100000"/>
              </a:lnSpc>
              <a:spcBef>
                <a:spcPct val="0"/>
              </a:spcBef>
              <a:spcAft>
                <a:spcPct val="0"/>
              </a:spcAft>
              <a:buClrTx/>
              <a:buSzTx/>
              <a:buFontTx/>
              <a:buChar char="•"/>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Labor-intensive and requires specific conditions for accuracy.</a:t>
            </a: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457200" marR="0" lvl="1" indent="0" algn="l" defTabSz="914400" rtl="0" eaLnBrk="0" fontAlgn="base" latinLnBrk="0" hangingPunct="0">
              <a:lnSpc>
                <a:spcPct val="100000"/>
              </a:lnSpc>
              <a:spcBef>
                <a:spcPct val="0"/>
              </a:spcBef>
              <a:spcAft>
                <a:spcPct val="0"/>
              </a:spcAft>
              <a:buClrTx/>
              <a:buSzTx/>
              <a:buFontTx/>
              <a:buChar char="•"/>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Not feasible for large-scale applications.</a:t>
            </a: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pPr>
            <a:r>
              <a:rPr kumimoji="0" lang="en-US" altLang="en-US"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Early Image Processing Techniques:</a:t>
            </a:r>
            <a:endPar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457200" marR="0" lvl="1" indent="0" algn="l" defTabSz="914400" rtl="0" eaLnBrk="0" fontAlgn="base" latinLnBrk="0" hangingPunct="0">
              <a:lnSpc>
                <a:spcPct val="100000"/>
              </a:lnSpc>
              <a:spcBef>
                <a:spcPct val="0"/>
              </a:spcBef>
              <a:spcAft>
                <a:spcPct val="0"/>
              </a:spcAft>
              <a:buClrTx/>
              <a:buSzTx/>
              <a:buFontTx/>
              <a:buChar char="•"/>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Methods such as color thresholding and texture analysis used.</a:t>
            </a: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457200" marR="0" lvl="1" indent="0" algn="l" defTabSz="914400" rtl="0" eaLnBrk="0" fontAlgn="base" latinLnBrk="0" hangingPunct="0">
              <a:lnSpc>
                <a:spcPct val="100000"/>
              </a:lnSpc>
              <a:spcBef>
                <a:spcPct val="0"/>
              </a:spcBef>
              <a:spcAft>
                <a:spcPct val="0"/>
              </a:spcAft>
              <a:buClrTx/>
              <a:buSzTx/>
              <a:buFontTx/>
              <a:buChar char="•"/>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Struggles with accuracy in complex disease symptoms.</a:t>
            </a: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457200" marR="0" lvl="1" indent="0" algn="l" defTabSz="914400" rtl="0" eaLnBrk="0" fontAlgn="base" latinLnBrk="0" hangingPunct="0">
              <a:lnSpc>
                <a:spcPct val="100000"/>
              </a:lnSpc>
              <a:spcBef>
                <a:spcPct val="0"/>
              </a:spcBef>
              <a:spcAft>
                <a:spcPct val="0"/>
              </a:spcAft>
              <a:buClrTx/>
              <a:buSzTx/>
              <a:buFontTx/>
              <a:buChar char="•"/>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Varies in effectiveness due to different leaf conditions.</a:t>
            </a: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pPr>
            <a:r>
              <a:rPr kumimoji="0" lang="en-US" altLang="en-US"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Limitations:</a:t>
            </a:r>
            <a:endPar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457200" marR="0" lvl="1" indent="0" algn="l" defTabSz="914400" rtl="0" eaLnBrk="0" fontAlgn="base" latinLnBrk="0" hangingPunct="0">
              <a:lnSpc>
                <a:spcPct val="100000"/>
              </a:lnSpc>
              <a:spcBef>
                <a:spcPct val="0"/>
              </a:spcBef>
              <a:spcAft>
                <a:spcPct val="0"/>
              </a:spcAft>
              <a:buClrTx/>
              <a:buSzTx/>
              <a:buFontTx/>
              <a:buChar char="•"/>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Time-consuming and labor-intensive processes.</a:t>
            </a: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457200" marR="0" lvl="1" indent="0" algn="l" defTabSz="914400" rtl="0" eaLnBrk="0" fontAlgn="base" latinLnBrk="0" hangingPunct="0">
              <a:lnSpc>
                <a:spcPct val="100000"/>
              </a:lnSpc>
              <a:spcBef>
                <a:spcPct val="0"/>
              </a:spcBef>
              <a:spcAft>
                <a:spcPct val="0"/>
              </a:spcAft>
              <a:buClrTx/>
              <a:buSzTx/>
              <a:buFontTx/>
              <a:buChar char="•"/>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Subjective and prone to human error.</a:t>
            </a: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457200" marR="0" lvl="1" indent="0" algn="l" defTabSz="914400" rtl="0" eaLnBrk="0" fontAlgn="base" latinLnBrk="0" hangingPunct="0">
              <a:lnSpc>
                <a:spcPct val="100000"/>
              </a:lnSpc>
              <a:spcBef>
                <a:spcPct val="0"/>
              </a:spcBef>
              <a:spcAft>
                <a:spcPct val="0"/>
              </a:spcAft>
              <a:buClrTx/>
              <a:buSzTx/>
              <a:buFontTx/>
              <a:buChar char="•"/>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Lack of accuracy and consistency with varying conditions.</a:t>
            </a: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pPr>
            <a:r>
              <a:rPr kumimoji="0" lang="en-US" altLang="en-US"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Need for Improvement:</a:t>
            </a:r>
            <a:endPar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457200" marR="0" lvl="1" indent="0" algn="l" defTabSz="914400" rtl="0" eaLnBrk="0" fontAlgn="base" latinLnBrk="0" hangingPunct="0">
              <a:lnSpc>
                <a:spcPct val="100000"/>
              </a:lnSpc>
              <a:spcBef>
                <a:spcPct val="0"/>
              </a:spcBef>
              <a:spcAft>
                <a:spcPct val="0"/>
              </a:spcAft>
              <a:buClrTx/>
              <a:buSzTx/>
              <a:buFontTx/>
              <a:buChar char="•"/>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Advanced and automated solutions are necessary.</a:t>
            </a: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457200" marR="0" lvl="1" indent="0" algn="l" defTabSz="914400" rtl="0" eaLnBrk="0" fontAlgn="base" latinLnBrk="0" hangingPunct="0">
              <a:lnSpc>
                <a:spcPct val="100000"/>
              </a:lnSpc>
              <a:spcBef>
                <a:spcPct val="0"/>
              </a:spcBef>
              <a:spcAft>
                <a:spcPct val="0"/>
              </a:spcAft>
              <a:buClrTx/>
              <a:buSzTx/>
              <a:buFontTx/>
              <a:buChar char="•"/>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Integration of deep learning technologies can address these limitations</a:t>
            </a:r>
            <a:r>
              <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endPar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spd="slow" p14:dur="800">
        <p:circle/>
      </p:transition>
    </mc:Choice>
    <mc:Fallback>
      <p:transition spd="slow">
        <p:circl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u="sng" dirty="0">
                <a:solidFill>
                  <a:schemeClr val="accent1"/>
                </a:solidFill>
                <a:latin typeface="Times New Roman" panose="02020603050405020304" pitchFamily="18" charset="0"/>
                <a:cs typeface="Times New Roman" panose="02020603050405020304" pitchFamily="18" charset="0"/>
              </a:rPr>
              <a:t>DRAWBACKS OF EXISTING SYSTEM</a:t>
            </a:r>
            <a:endParaRPr lang="en-IN" b="1" u="sng" dirty="0">
              <a:solidFill>
                <a:schemeClr val="accent1"/>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2592925" y="1540188"/>
            <a:ext cx="8915400" cy="5175571"/>
          </a:xfrm>
        </p:spPr>
        <p:txBody>
          <a:bodyPr>
            <a:normAutofit/>
          </a:bodyPr>
          <a:lstStyle/>
          <a:p>
            <a:r>
              <a:rPr lang="en-US" sz="2000" b="1" dirty="0">
                <a:latin typeface="Times New Roman" panose="02020603050405020304" pitchFamily="18" charset="0"/>
                <a:cs typeface="Times New Roman" panose="02020603050405020304" pitchFamily="18" charset="0"/>
              </a:rPr>
              <a:t>Limited Generalization</a:t>
            </a:r>
            <a:r>
              <a:rPr lang="en-US" sz="2000" dirty="0">
                <a:latin typeface="Times New Roman" panose="02020603050405020304" pitchFamily="18" charset="0"/>
                <a:cs typeface="Times New Roman" panose="02020603050405020304" pitchFamily="18" charset="0"/>
              </a:rPr>
              <a:t>: Many existing models are trained on specific datasets and may not perform well in different environmental conditions, varying lighting, or with different plant species not represented in the training data.</a:t>
            </a:r>
            <a:endParaRPr lang="en-US" sz="2000" dirty="0">
              <a:latin typeface="Times New Roman" panose="02020603050405020304" pitchFamily="18" charset="0"/>
              <a:cs typeface="Times New Roman" panose="02020603050405020304" pitchFamily="18" charset="0"/>
            </a:endParaRPr>
          </a:p>
          <a:p>
            <a:r>
              <a:rPr lang="en-US" b="1" dirty="0">
                <a:latin typeface="Times New Roman" panose="02020603050405020304" pitchFamily="18" charset="0"/>
                <a:cs typeface="Times New Roman" panose="02020603050405020304" pitchFamily="18" charset="0"/>
              </a:rPr>
              <a:t>High Computational Requirements</a:t>
            </a:r>
            <a:r>
              <a:rPr lang="en-US" dirty="0">
                <a:latin typeface="Times New Roman" panose="02020603050405020304" pitchFamily="18" charset="0"/>
                <a:cs typeface="Times New Roman" panose="02020603050405020304" pitchFamily="18" charset="0"/>
              </a:rPr>
              <a:t>: Deep learning models require substantial computational resources for both training and inference, which can be a challenge for deployment in resource-constrained settings, such as small farms or rural areas.</a:t>
            </a:r>
            <a:endParaRPr lang="en-US" dirty="0">
              <a:latin typeface="Times New Roman" panose="02020603050405020304" pitchFamily="18" charset="0"/>
              <a:cs typeface="Times New Roman" panose="02020603050405020304" pitchFamily="18" charset="0"/>
            </a:endParaRPr>
          </a:p>
          <a:p>
            <a:r>
              <a:rPr lang="en-US" b="1" dirty="0">
                <a:latin typeface="Times New Roman" panose="02020603050405020304" pitchFamily="18" charset="0"/>
                <a:cs typeface="Times New Roman" panose="02020603050405020304" pitchFamily="18" charset="0"/>
              </a:rPr>
              <a:t>Data Annotation Challenges</a:t>
            </a:r>
            <a:r>
              <a:rPr lang="en-US" dirty="0">
                <a:latin typeface="Times New Roman" panose="02020603050405020304" pitchFamily="18" charset="0"/>
                <a:cs typeface="Times New Roman" panose="02020603050405020304" pitchFamily="18" charset="0"/>
              </a:rPr>
              <a:t>: Creating large and accurately annotated datasets is a labor-intensive and time-consuming process. Mislabeling or insufficiently diverse datasets can lead to decreased model performance.</a:t>
            </a:r>
            <a:endParaRPr lang="en-US" dirty="0">
              <a:latin typeface="Times New Roman" panose="02020603050405020304" pitchFamily="18" charset="0"/>
              <a:cs typeface="Times New Roman" panose="02020603050405020304" pitchFamily="18" charset="0"/>
            </a:endParaRPr>
          </a:p>
          <a:p>
            <a:r>
              <a:rPr lang="en-US" b="1" dirty="0">
                <a:latin typeface="Times New Roman" panose="02020603050405020304" pitchFamily="18" charset="0"/>
                <a:cs typeface="Times New Roman" panose="02020603050405020304" pitchFamily="18" charset="0"/>
              </a:rPr>
              <a:t>Sensitivity to Image Quality</a:t>
            </a:r>
            <a:r>
              <a:rPr lang="en-US" dirty="0">
                <a:latin typeface="Times New Roman" panose="02020603050405020304" pitchFamily="18" charset="0"/>
                <a:cs typeface="Times New Roman" panose="02020603050405020304" pitchFamily="18" charset="0"/>
              </a:rPr>
              <a:t>: These models often require high-quality images for accurate detection. Variations in image quality due to camera resolution, focus, or environmental factors (like shadows or reflections) can negatively impact detection accuracy.</a:t>
            </a:r>
            <a:endParaRPr lang="en-US" dirty="0">
              <a:latin typeface="Times New Roman" panose="02020603050405020304" pitchFamily="18" charset="0"/>
              <a:cs typeface="Times New Roman" panose="02020603050405020304" pitchFamily="18" charset="0"/>
            </a:endParaRPr>
          </a:p>
          <a:p>
            <a:r>
              <a:rPr lang="en-US" b="1" dirty="0">
                <a:latin typeface="Times New Roman" panose="02020603050405020304" pitchFamily="18" charset="0"/>
                <a:cs typeface="Times New Roman" panose="02020603050405020304" pitchFamily="18" charset="0"/>
              </a:rPr>
              <a:t>Lack of Robustness to Overlapping Symptoms</a:t>
            </a:r>
            <a:r>
              <a:rPr lang="en-US" dirty="0">
                <a:latin typeface="Times New Roman" panose="02020603050405020304" pitchFamily="18" charset="0"/>
                <a:cs typeface="Times New Roman" panose="02020603050405020304" pitchFamily="18" charset="0"/>
              </a:rPr>
              <a:t>: Many plant diseases exhibit similar visual symptoms, making it difficult for models to distinguish between different diseases. This can lead to misclassification and reduced reliability of the detection system in practical applications.</a:t>
            </a:r>
            <a:endParaRPr lang="en-IN" dirty="0">
              <a:latin typeface="Times New Roman" panose="02020603050405020304" pitchFamily="18" charset="0"/>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spd="slow" p14:dur="800">
        <p:circle/>
      </p:transition>
    </mc:Choice>
    <mc:Fallback>
      <p:transition spd="slow">
        <p:circl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89212" y="222893"/>
            <a:ext cx="8911687" cy="1280890"/>
          </a:xfrm>
        </p:spPr>
        <p:txBody>
          <a:bodyPr>
            <a:normAutofit/>
          </a:bodyPr>
          <a:lstStyle/>
          <a:p>
            <a:r>
              <a:rPr lang="en-US" sz="4000" b="1" u="sng" dirty="0">
                <a:solidFill>
                  <a:schemeClr val="accent1"/>
                </a:solidFill>
                <a:latin typeface="Times New Roman" panose="02020603050405020304" pitchFamily="18" charset="0"/>
                <a:cs typeface="Times New Roman" panose="02020603050405020304" pitchFamily="18" charset="0"/>
              </a:rPr>
              <a:t>PROPOSED SYSTEM</a:t>
            </a:r>
            <a:endParaRPr lang="en-IN" sz="4000" b="1" u="sng" dirty="0">
              <a:solidFill>
                <a:schemeClr val="accent1"/>
              </a:solidFill>
              <a:latin typeface="Times New Roman" panose="02020603050405020304" pitchFamily="18" charset="0"/>
              <a:cs typeface="Times New Roman" panose="02020603050405020304" pitchFamily="18" charset="0"/>
            </a:endParaRPr>
          </a:p>
        </p:txBody>
      </p:sp>
      <p:sp>
        <p:nvSpPr>
          <p:cNvPr id="5" name="Content Placeholder 4"/>
          <p:cNvSpPr>
            <a:spLocks noGrp="1"/>
          </p:cNvSpPr>
          <p:nvPr>
            <p:ph idx="1"/>
          </p:nvPr>
        </p:nvSpPr>
        <p:spPr>
          <a:xfrm>
            <a:off x="2589212" y="966037"/>
            <a:ext cx="8915400" cy="5190923"/>
          </a:xfrm>
        </p:spPr>
        <p:txBody>
          <a:bodyPr>
            <a:noAutofit/>
          </a:bodyPr>
          <a:lstStyle/>
          <a:p>
            <a:pPr marL="0" marR="0" lvl="0" indent="0" algn="l" defTabSz="914400" rtl="0" eaLnBrk="0" fontAlgn="base" latinLnBrk="0" hangingPunct="0">
              <a:lnSpc>
                <a:spcPct val="100000"/>
              </a:lnSpc>
              <a:spcBef>
                <a:spcPct val="0"/>
              </a:spcBef>
              <a:spcAft>
                <a:spcPct val="0"/>
              </a:spcAft>
              <a:buClrTx/>
              <a:buSzTx/>
              <a:buFontTx/>
              <a:buChar char="•"/>
            </a:pP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Objective:</a:t>
            </a: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457200" marR="0" lvl="1" indent="0" algn="l" defTabSz="914400" rtl="0" eaLnBrk="0" fontAlgn="base" latinLnBrk="0" hangingPunct="0">
              <a:lnSpc>
                <a:spcPct val="100000"/>
              </a:lnSpc>
              <a:spcBef>
                <a:spcPct val="0"/>
              </a:spcBef>
              <a:spcAft>
                <a:spcPct val="0"/>
              </a:spcAft>
              <a:buClrTx/>
              <a:buSzTx/>
              <a:buFontTx/>
              <a:buChar char="•"/>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Enhance accuracy and efficiency in leaf disease detection using deep learning.</a:t>
            </a: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pP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Scope:</a:t>
            </a: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457200" marR="0" lvl="1" indent="0" algn="l" defTabSz="914400" rtl="0" eaLnBrk="0" fontAlgn="base" latinLnBrk="0" hangingPunct="0">
              <a:lnSpc>
                <a:spcPct val="100000"/>
              </a:lnSpc>
              <a:spcBef>
                <a:spcPct val="0"/>
              </a:spcBef>
              <a:spcAft>
                <a:spcPct val="0"/>
              </a:spcAft>
              <a:buClrTx/>
              <a:buSzTx/>
              <a:buFontTx/>
              <a:buChar char="•"/>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Develop a robust model for identifying and classifying leaf diseases from images.</a:t>
            </a: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457200" marR="0" lvl="1" indent="0" algn="l" defTabSz="914400" rtl="0" eaLnBrk="0" fontAlgn="base" latinLnBrk="0" hangingPunct="0">
              <a:lnSpc>
                <a:spcPct val="100000"/>
              </a:lnSpc>
              <a:spcBef>
                <a:spcPct val="0"/>
              </a:spcBef>
              <a:spcAft>
                <a:spcPct val="0"/>
              </a:spcAft>
              <a:buClrTx/>
              <a:buSzTx/>
              <a:buFontTx/>
              <a:buChar char="•"/>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Achieve high detection accuracy and real-time image processing.</a:t>
            </a: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pP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Key Modules:</a:t>
            </a: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457200" marR="0" lvl="1" indent="0" algn="l" defTabSz="914400" rtl="0" eaLnBrk="0" fontAlgn="base" latinLnBrk="0" hangingPunct="0">
              <a:lnSpc>
                <a:spcPct val="100000"/>
              </a:lnSpc>
              <a:spcBef>
                <a:spcPct val="0"/>
              </a:spcBef>
              <a:spcAft>
                <a:spcPct val="0"/>
              </a:spcAft>
              <a:buClrTx/>
              <a:buSzTx/>
              <a:buFontTx/>
              <a:buChar char="•"/>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Image Preprocessing:</a:t>
            </a: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914400" marR="0" lvl="2" indent="0" algn="l" defTabSz="914400" rtl="0" eaLnBrk="0" fontAlgn="base" latinLnBrk="0" hangingPunct="0">
              <a:lnSpc>
                <a:spcPct val="100000"/>
              </a:lnSpc>
              <a:spcBef>
                <a:spcPct val="0"/>
              </a:spcBef>
              <a:spcAft>
                <a:spcPct val="0"/>
              </a:spcAft>
              <a:buClrTx/>
              <a:buSzTx/>
              <a:buFontTx/>
              <a:buChar char="•"/>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Normalize, augment, and resize leaf images for consistent input quality.</a:t>
            </a: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457200" marR="0" lvl="1" indent="0" algn="l" defTabSz="914400" rtl="0" eaLnBrk="0" fontAlgn="base" latinLnBrk="0" hangingPunct="0">
              <a:lnSpc>
                <a:spcPct val="100000"/>
              </a:lnSpc>
              <a:spcBef>
                <a:spcPct val="0"/>
              </a:spcBef>
              <a:spcAft>
                <a:spcPct val="0"/>
              </a:spcAft>
              <a:buClrTx/>
              <a:buSzTx/>
              <a:buFontTx/>
              <a:buChar char="•"/>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Model Training:</a:t>
            </a: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914400" marR="0" lvl="2" indent="0" algn="l" defTabSz="914400" rtl="0" eaLnBrk="0" fontAlgn="base" latinLnBrk="0" hangingPunct="0">
              <a:lnSpc>
                <a:spcPct val="100000"/>
              </a:lnSpc>
              <a:spcBef>
                <a:spcPct val="0"/>
              </a:spcBef>
              <a:spcAft>
                <a:spcPct val="0"/>
              </a:spcAft>
              <a:buClrTx/>
              <a:buSzTx/>
              <a:buFontTx/>
              <a:buChar char="•"/>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Train Convolutional Neural Networks (CNNs) on a dataset of labeled leaf images to recognize disease patterns.</a:t>
            </a: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457200" marR="0" lvl="1" indent="0" algn="l" defTabSz="914400" rtl="0" eaLnBrk="0" fontAlgn="base" latinLnBrk="0" hangingPunct="0">
              <a:lnSpc>
                <a:spcPct val="100000"/>
              </a:lnSpc>
              <a:spcBef>
                <a:spcPct val="0"/>
              </a:spcBef>
              <a:spcAft>
                <a:spcPct val="0"/>
              </a:spcAft>
              <a:buClrTx/>
              <a:buSzTx/>
              <a:buFontTx/>
              <a:buChar char="•"/>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Disease Detection:</a:t>
            </a: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914400" marR="0" lvl="2" indent="0" algn="l" defTabSz="914400" rtl="0" eaLnBrk="0" fontAlgn="base" latinLnBrk="0" hangingPunct="0">
              <a:lnSpc>
                <a:spcPct val="100000"/>
              </a:lnSpc>
              <a:spcBef>
                <a:spcPct val="0"/>
              </a:spcBef>
              <a:spcAft>
                <a:spcPct val="0"/>
              </a:spcAft>
              <a:buClrTx/>
              <a:buSzTx/>
              <a:buFontTx/>
              <a:buChar char="•"/>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Classify new leaf images as healthy or diseased and identify specific diseases using the trained model.</a:t>
            </a: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457200" marR="0" lvl="1" indent="0" algn="l" defTabSz="914400" rtl="0" eaLnBrk="0" fontAlgn="base" latinLnBrk="0" hangingPunct="0">
              <a:lnSpc>
                <a:spcPct val="100000"/>
              </a:lnSpc>
              <a:spcBef>
                <a:spcPct val="0"/>
              </a:spcBef>
              <a:spcAft>
                <a:spcPct val="0"/>
              </a:spcAft>
              <a:buClrTx/>
              <a:buSzTx/>
              <a:buFontTx/>
              <a:buChar char="•"/>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Result Analysis:</a:t>
            </a: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914400" marR="0" lvl="2" indent="0" algn="l" defTabSz="914400" rtl="0" eaLnBrk="0" fontAlgn="base" latinLnBrk="0" hangingPunct="0">
              <a:lnSpc>
                <a:spcPct val="100000"/>
              </a:lnSpc>
              <a:spcBef>
                <a:spcPct val="0"/>
              </a:spcBef>
              <a:spcAft>
                <a:spcPct val="0"/>
              </a:spcAft>
              <a:buClrTx/>
              <a:buSzTx/>
              <a:buFontTx/>
              <a:buChar char="•"/>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Output classification results and confidence scores, providing actionable insights into leaf health</a:t>
            </a:r>
            <a:r>
              <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endPar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spd="slow" p14:dur="800">
        <p:circle/>
      </p:transition>
    </mc:Choice>
    <mc:Fallback>
      <p:transition spd="slow">
        <p:circl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u="sng" dirty="0">
                <a:solidFill>
                  <a:schemeClr val="accent1"/>
                </a:solidFill>
                <a:latin typeface="Times New Roman" panose="02020603050405020304" pitchFamily="18" charset="0"/>
                <a:cs typeface="Times New Roman" panose="02020603050405020304" pitchFamily="18" charset="0"/>
              </a:rPr>
              <a:t>ADVANTAGES OF PROPOSED SYSTEM</a:t>
            </a:r>
            <a:endParaRPr lang="en-IN" b="1" u="sng" dirty="0">
              <a:solidFill>
                <a:schemeClr val="accent1"/>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2592925" y="1905000"/>
            <a:ext cx="8915400" cy="2595880"/>
          </a:xfrm>
        </p:spPr>
        <p:txBody>
          <a:bodyPr>
            <a:normAutofit/>
          </a:bodyPr>
          <a:lstStyle/>
          <a:p>
            <a:r>
              <a:rPr lang="en-US" b="1" dirty="0">
                <a:latin typeface="Times New Roman" panose="02020603050405020304" pitchFamily="18" charset="0"/>
                <a:cs typeface="Times New Roman" panose="02020603050405020304" pitchFamily="18" charset="0"/>
              </a:rPr>
              <a:t>High Accuracy and Efficiency</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Real-time Disease Detection</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Scalability and Versatility</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Cost-effective Solution</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Enhanced Crop Management</a:t>
            </a:r>
            <a:endParaRPr lang="en-IN" dirty="0">
              <a:latin typeface="Times New Roman" panose="02020603050405020304" pitchFamily="18" charset="0"/>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spd="slow" p14:dur="800">
        <p:circle/>
      </p:transition>
    </mc:Choice>
    <mc:Fallback>
      <p:transition spd="slow">
        <p:circl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b="1" u="sng" dirty="0">
                <a:solidFill>
                  <a:schemeClr val="accent1"/>
                </a:solidFill>
                <a:latin typeface="Times New Roman" panose="02020603050405020304" pitchFamily="18" charset="0"/>
                <a:cs typeface="Times New Roman" panose="02020603050405020304" pitchFamily="18" charset="0"/>
              </a:rPr>
              <a:t>SYSTEM ARCHITECTURE</a:t>
            </a:r>
            <a:endParaRPr lang="en-IN" sz="4000" b="1" u="sng" dirty="0">
              <a:solidFill>
                <a:schemeClr val="accent1"/>
              </a:solidFill>
              <a:latin typeface="Times New Roman" panose="02020603050405020304" pitchFamily="18" charset="0"/>
              <a:cs typeface="Times New Roman" panose="02020603050405020304" pitchFamily="18" charset="0"/>
            </a:endParaRPr>
          </a:p>
        </p:txBody>
      </p:sp>
      <p:pic>
        <p:nvPicPr>
          <p:cNvPr id="4" name="Content Placeholder 3"/>
          <p:cNvPicPr>
            <a:picLocks noGrp="1"/>
          </p:cNvPicPr>
          <p:nvPr>
            <p:ph idx="1"/>
          </p:nvPr>
        </p:nvPicPr>
        <p:blipFill>
          <a:blip r:embed="rId1"/>
          <a:srcRect/>
          <a:stretch>
            <a:fillRect/>
          </a:stretch>
        </p:blipFill>
        <p:spPr>
          <a:xfrm>
            <a:off x="2479609" y="1595535"/>
            <a:ext cx="8026659" cy="4638355"/>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800">
        <p:circle/>
      </p:transition>
    </mc:Choice>
    <mc:Fallback>
      <p:transition spd="slow">
        <p:circl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b="1" u="sng" dirty="0">
                <a:solidFill>
                  <a:schemeClr val="accent1"/>
                </a:solidFill>
                <a:latin typeface="Times New Roman" panose="02020603050405020304" pitchFamily="18" charset="0"/>
                <a:cs typeface="Times New Roman" panose="02020603050405020304" pitchFamily="18" charset="0"/>
              </a:rPr>
              <a:t>MODULES</a:t>
            </a:r>
            <a:endParaRPr lang="en-IN" sz="4000" b="1" u="sng" dirty="0">
              <a:solidFill>
                <a:schemeClr val="accent1"/>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2315721" y="1905000"/>
            <a:ext cx="8915400" cy="3777622"/>
          </a:xfrm>
        </p:spPr>
        <p:txBody>
          <a:bodyPr>
            <a:noAutofit/>
          </a:bodyPr>
          <a:lstStyle/>
          <a:p>
            <a:r>
              <a:rPr lang="en-US" sz="1400" b="1" dirty="0"/>
              <a:t>1. Model Training Module</a:t>
            </a:r>
            <a:endParaRPr lang="en-US" sz="1400" b="1" dirty="0"/>
          </a:p>
          <a:p>
            <a:pPr>
              <a:buFont typeface="Arial" panose="020B0604020202020204" pitchFamily="34" charset="0"/>
              <a:buChar char="•"/>
            </a:pPr>
            <a:r>
              <a:rPr lang="en-US" sz="1400" b="1" dirty="0"/>
              <a:t>Model Architecture Design</a:t>
            </a:r>
            <a:r>
              <a:rPr lang="en-US" sz="1400" dirty="0"/>
              <a:t>: Creating and fine-tuning the convolutional neural network (CNN) architecture for optimal performance in disease detection.</a:t>
            </a:r>
            <a:endParaRPr lang="en-US" sz="1400" dirty="0"/>
          </a:p>
          <a:p>
            <a:pPr>
              <a:buFont typeface="Arial" panose="020B0604020202020204" pitchFamily="34" charset="0"/>
              <a:buChar char="•"/>
            </a:pPr>
            <a:r>
              <a:rPr lang="en-US" sz="1400" b="1" dirty="0"/>
              <a:t>Training Process</a:t>
            </a:r>
            <a:r>
              <a:rPr lang="en-US" sz="1400" dirty="0"/>
              <a:t>: Using the preprocessed dataset to train the CNN model, adjusting hyperparameters and optimizing the training process for better accuracy and efficiency.</a:t>
            </a:r>
            <a:endParaRPr lang="en-US" sz="1400" dirty="0"/>
          </a:p>
          <a:p>
            <a:r>
              <a:rPr lang="en-US" sz="1400" b="1" dirty="0"/>
              <a:t>2. Data Collection and Preprocessing Module</a:t>
            </a:r>
            <a:endParaRPr lang="en-US" sz="1400" b="1" dirty="0"/>
          </a:p>
          <a:p>
            <a:pPr>
              <a:buFont typeface="Arial" panose="020B0604020202020204" pitchFamily="34" charset="0"/>
              <a:buChar char="•"/>
            </a:pPr>
            <a:r>
              <a:rPr lang="en-US" sz="1400" b="1" dirty="0"/>
              <a:t>Leaf Image Acquisition</a:t>
            </a:r>
            <a:r>
              <a:rPr lang="en-US" sz="1400" dirty="0"/>
              <a:t>: Gathering a comprehensive dataset of leaf images from various sources like public datasets, field photography, and contributions from agricultural institutions.</a:t>
            </a:r>
            <a:endParaRPr lang="en-US" sz="1400" dirty="0"/>
          </a:p>
          <a:p>
            <a:pPr>
              <a:buFont typeface="Arial" panose="020B0604020202020204" pitchFamily="34" charset="0"/>
              <a:buChar char="•"/>
            </a:pPr>
            <a:r>
              <a:rPr lang="en-US" sz="1400" b="1" dirty="0"/>
              <a:t>Image Enhancement and Annotation</a:t>
            </a:r>
            <a:r>
              <a:rPr lang="en-US" sz="1400" dirty="0"/>
              <a:t>: Applying techniques like resizing, normalization, and augmentation to improve image quality, and accurately labeling the images with disease classifications to create a robust training dataset.</a:t>
            </a:r>
            <a:endParaRPr lang="en-US" sz="1400" dirty="0"/>
          </a:p>
          <a:p>
            <a:r>
              <a:rPr lang="en-US" sz="1400" b="1" dirty="0"/>
              <a:t>3. Deployment Module</a:t>
            </a:r>
            <a:endParaRPr lang="en-US" sz="1400" b="1" dirty="0"/>
          </a:p>
          <a:p>
            <a:pPr>
              <a:buFont typeface="Arial" panose="020B0604020202020204" pitchFamily="34" charset="0"/>
              <a:buChar char="•"/>
            </a:pPr>
            <a:r>
              <a:rPr lang="en-US" sz="1400" b="1" dirty="0"/>
              <a:t>Real-time Detection System</a:t>
            </a:r>
            <a:r>
              <a:rPr lang="en-US" sz="1400" dirty="0"/>
              <a:t>: Developing a user-friendly application (web or mobile) that leverages the trained CNN model for real-time disease detection from leaf images.</a:t>
            </a:r>
            <a:endParaRPr lang="en-US" sz="1400" dirty="0"/>
          </a:p>
          <a:p>
            <a:pPr>
              <a:buFont typeface="Arial" panose="020B0604020202020204" pitchFamily="34" charset="0"/>
              <a:buChar char="•"/>
            </a:pPr>
            <a:r>
              <a:rPr lang="en-US" sz="1400" b="1" dirty="0"/>
              <a:t>Cloud Integration</a:t>
            </a:r>
            <a:r>
              <a:rPr lang="en-US" sz="1400" dirty="0"/>
              <a:t>: Utilizing cloud platforms like AWS for scalable storage and computation, enabling continuous model updates and large-scale data handling.</a:t>
            </a:r>
            <a:endParaRPr lang="en-US" sz="1400" dirty="0"/>
          </a:p>
        </p:txBody>
      </p:sp>
    </p:spTree>
  </p:cSld>
  <p:clrMapOvr>
    <a:masterClrMapping/>
  </p:clrMapOvr>
  <mc:AlternateContent xmlns:mc="http://schemas.openxmlformats.org/markup-compatibility/2006">
    <mc:Choice xmlns:p14="http://schemas.microsoft.com/office/powerpoint/2010/main" Requires="p14">
      <p:transition spd="slow" p14:dur="800">
        <p:circle/>
      </p:transition>
    </mc:Choice>
    <mc:Fallback>
      <p:transition spd="slow">
        <p:circl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b="1" u="sng" dirty="0">
                <a:solidFill>
                  <a:schemeClr val="accent1"/>
                </a:solidFill>
                <a:latin typeface="Times New Roman" panose="02020603050405020304" pitchFamily="18" charset="0"/>
                <a:cs typeface="Times New Roman" panose="02020603050405020304" pitchFamily="18" charset="0"/>
              </a:rPr>
              <a:t>SOFTWARE REQUIREMENTS</a:t>
            </a:r>
            <a:endParaRPr lang="en-IN" sz="4000" b="1" u="sng" dirty="0">
              <a:solidFill>
                <a:schemeClr val="accent1"/>
              </a:solidFill>
              <a:latin typeface="Times New Roman" panose="02020603050405020304" pitchFamily="18" charset="0"/>
              <a:cs typeface="Times New Roman" panose="02020603050405020304" pitchFamily="18" charset="0"/>
            </a:endParaRPr>
          </a:p>
        </p:txBody>
      </p:sp>
      <p:graphicFrame>
        <p:nvGraphicFramePr>
          <p:cNvPr id="4" name="Table 3"/>
          <p:cNvGraphicFramePr>
            <a:graphicFrameLocks noGrp="1"/>
          </p:cNvGraphicFramePr>
          <p:nvPr/>
        </p:nvGraphicFramePr>
        <p:xfrm>
          <a:off x="2687320" y="1753870"/>
          <a:ext cx="8024495" cy="2866390"/>
        </p:xfrm>
        <a:graphic>
          <a:graphicData uri="http://schemas.openxmlformats.org/drawingml/2006/table">
            <a:tbl>
              <a:tblPr firstRow="1" bandRow="1">
                <a:tableStyleId>{5C22544A-7EE6-4342-B048-85BDC9FD1C3A}</a:tableStyleId>
              </a:tblPr>
              <a:tblGrid>
                <a:gridCol w="3810000"/>
                <a:gridCol w="4214495"/>
              </a:tblGrid>
              <a:tr h="365760">
                <a:tc>
                  <a:txBody>
                    <a:bodyPr/>
                    <a:lstStyle/>
                    <a:p>
                      <a:r>
                        <a:rPr lang="en-US" b="0" dirty="0">
                          <a:solidFill>
                            <a:schemeClr val="bg1"/>
                          </a:solidFill>
                        </a:rPr>
                        <a:t>Operating System</a:t>
                      </a:r>
                      <a:endParaRPr lang="en-IN" b="0" dirty="0">
                        <a:solidFill>
                          <a:schemeClr val="bg1"/>
                        </a:solidFill>
                      </a:endParaRPr>
                    </a:p>
                  </a:txBody>
                  <a:tcPr/>
                </a:tc>
                <a:tc>
                  <a:txBody>
                    <a:bodyPr/>
                    <a:lstStyle/>
                    <a:p>
                      <a:r>
                        <a:rPr lang="en-US" b="0" dirty="0">
                          <a:solidFill>
                            <a:schemeClr val="bg1"/>
                          </a:solidFill>
                        </a:rPr>
                        <a:t>Windows 10/11</a:t>
                      </a:r>
                      <a:endParaRPr lang="en-IN" b="0" dirty="0">
                        <a:solidFill>
                          <a:schemeClr val="bg1"/>
                        </a:solidFill>
                      </a:endParaRPr>
                    </a:p>
                  </a:txBody>
                  <a:tcPr/>
                </a:tc>
              </a:tr>
              <a:tr h="365760">
                <a:tc>
                  <a:txBody>
                    <a:bodyPr/>
                    <a:lstStyle/>
                    <a:p>
                      <a:r>
                        <a:rPr lang="en-US" dirty="0">
                          <a:solidFill>
                            <a:schemeClr val="tx1"/>
                          </a:solidFill>
                        </a:rPr>
                        <a:t>Developing Software</a:t>
                      </a:r>
                      <a:endParaRPr lang="en-IN" dirty="0">
                        <a:solidFill>
                          <a:schemeClr val="tx1"/>
                        </a:solidFill>
                      </a:endParaRPr>
                    </a:p>
                  </a:txBody>
                  <a:tcPr/>
                </a:tc>
                <a:tc>
                  <a:txBody>
                    <a:bodyPr/>
                    <a:lstStyle/>
                    <a:p>
                      <a:r>
                        <a:rPr lang="en-US" dirty="0"/>
                        <a:t>Python 3.10</a:t>
                      </a:r>
                      <a:endParaRPr lang="en-IN" dirty="0"/>
                    </a:p>
                  </a:txBody>
                  <a:tcPr/>
                </a:tc>
              </a:tr>
              <a:tr h="365760">
                <a:tc>
                  <a:txBody>
                    <a:bodyPr/>
                    <a:lstStyle/>
                    <a:p>
                      <a:r>
                        <a:rPr lang="en-US" sz="1800" dirty="0">
                          <a:solidFill>
                            <a:schemeClr val="tx1"/>
                          </a:solidFill>
                        </a:rPr>
                        <a:t>Programming language</a:t>
                      </a:r>
                      <a:endParaRPr lang="en-IN" sz="1800" dirty="0">
                        <a:solidFill>
                          <a:schemeClr val="tx1"/>
                        </a:solidFill>
                      </a:endParaRPr>
                    </a:p>
                  </a:txBody>
                  <a:tcPr/>
                </a:tc>
                <a:tc>
                  <a:txBody>
                    <a:bodyPr/>
                    <a:lstStyle/>
                    <a:p>
                      <a:r>
                        <a:rPr lang="en-US" dirty="0"/>
                        <a:t>Python</a:t>
                      </a:r>
                      <a:endParaRPr lang="en-IN" dirty="0"/>
                    </a:p>
                  </a:txBody>
                  <a:tcPr/>
                </a:tc>
              </a:tr>
              <a:tr h="365760">
                <a:tc>
                  <a:txBody>
                    <a:bodyPr/>
                    <a:lstStyle/>
                    <a:p>
                      <a:r>
                        <a:rPr lang="en-US" dirty="0">
                          <a:solidFill>
                            <a:schemeClr val="tx1"/>
                          </a:solidFill>
                        </a:rPr>
                        <a:t>Domain</a:t>
                      </a:r>
                      <a:endParaRPr lang="en-IN" dirty="0">
                        <a:solidFill>
                          <a:schemeClr val="tx1"/>
                        </a:solidFill>
                      </a:endParaRPr>
                    </a:p>
                  </a:txBody>
                  <a:tcPr/>
                </a:tc>
                <a:tc>
                  <a:txBody>
                    <a:bodyPr/>
                    <a:lstStyle/>
                    <a:p>
                      <a:r>
                        <a:rPr lang="en-US" dirty="0"/>
                        <a:t>Machine Learning</a:t>
                      </a:r>
                      <a:endParaRPr lang="en-IN" dirty="0"/>
                    </a:p>
                  </a:txBody>
                  <a:tcPr/>
                </a:tc>
              </a:tr>
              <a:tr h="655320">
                <a:tc>
                  <a:txBody>
                    <a:bodyPr/>
                    <a:lstStyle/>
                    <a:p>
                      <a:r>
                        <a:rPr lang="en-US" dirty="0">
                          <a:solidFill>
                            <a:schemeClr val="tx1"/>
                          </a:solidFill>
                        </a:rPr>
                        <a:t>Integrated Development Environment(IDE)</a:t>
                      </a:r>
                      <a:endParaRPr lang="en-IN" dirty="0">
                        <a:solidFill>
                          <a:schemeClr val="tx1"/>
                        </a:solidFill>
                      </a:endParaRPr>
                    </a:p>
                  </a:txBody>
                  <a:tcPr/>
                </a:tc>
                <a:tc>
                  <a:txBody>
                    <a:bodyPr/>
                    <a:lstStyle/>
                    <a:p>
                      <a:r>
                        <a:rPr lang="en-US" dirty="0"/>
                        <a:t>Visual Studio Code</a:t>
                      </a:r>
                      <a:endParaRPr lang="en-IN" dirty="0"/>
                    </a:p>
                  </a:txBody>
                  <a:tcPr/>
                </a:tc>
              </a:tr>
              <a:tr h="374015">
                <a:tc>
                  <a:txBody>
                    <a:bodyPr/>
                    <a:p>
                      <a:pPr>
                        <a:buNone/>
                      </a:pPr>
                      <a:r>
                        <a:rPr lang="en-IN" dirty="0">
                          <a:solidFill>
                            <a:schemeClr val="tx1"/>
                          </a:solidFill>
                        </a:rPr>
                        <a:t>Front End Technologies</a:t>
                      </a:r>
                      <a:endParaRPr lang="en-IN" dirty="0">
                        <a:solidFill>
                          <a:schemeClr val="tx1"/>
                        </a:solidFill>
                      </a:endParaRPr>
                    </a:p>
                  </a:txBody>
                  <a:tcPr/>
                </a:tc>
                <a:tc>
                  <a:txBody>
                    <a:bodyPr/>
                    <a:p>
                      <a:pPr>
                        <a:buNone/>
                      </a:pPr>
                      <a:r>
                        <a:rPr lang="en-IN" dirty="0"/>
                        <a:t>Streamlit</a:t>
                      </a:r>
                      <a:endParaRPr lang="en-IN" dirty="0"/>
                    </a:p>
                  </a:txBody>
                  <a:tcPr/>
                </a:tc>
              </a:tr>
              <a:tr h="374015">
                <a:tc>
                  <a:txBody>
                    <a:bodyPr/>
                    <a:p>
                      <a:pPr>
                        <a:buNone/>
                      </a:pPr>
                      <a:r>
                        <a:rPr lang="en-IN" dirty="0">
                          <a:solidFill>
                            <a:schemeClr val="tx1"/>
                          </a:solidFill>
                        </a:rPr>
                        <a:t>Back End Technologies or Framework</a:t>
                      </a:r>
                      <a:endParaRPr lang="en-IN" dirty="0">
                        <a:solidFill>
                          <a:schemeClr val="tx1"/>
                        </a:solidFill>
                      </a:endParaRPr>
                    </a:p>
                  </a:txBody>
                  <a:tcPr/>
                </a:tc>
                <a:tc>
                  <a:txBody>
                    <a:bodyPr/>
                    <a:p>
                      <a:pPr>
                        <a:buNone/>
                      </a:pPr>
                      <a:r>
                        <a:rPr lang="en-IN" dirty="0"/>
                        <a:t>Node js</a:t>
                      </a:r>
                      <a:endParaRPr lang="en-IN" dirty="0"/>
                    </a:p>
                  </a:txBody>
                  <a:tcPr/>
                </a:tc>
              </a:tr>
            </a:tbl>
          </a:graphicData>
        </a:graphic>
      </p:graphicFrame>
      <p:sp>
        <p:nvSpPr>
          <p:cNvPr id="3" name="Content Placeholder 2"/>
          <p:cNvSpPr>
            <a:spLocks noGrp="1"/>
          </p:cNvSpPr>
          <p:nvPr>
            <p:ph idx="1"/>
          </p:nvPr>
        </p:nvSpPr>
        <p:spPr>
          <a:xfrm>
            <a:off x="2589212" y="1753870"/>
            <a:ext cx="8915400" cy="3777622"/>
          </a:xfrm>
        </p:spPr>
        <p:txBody>
          <a:bodyPr/>
          <a:lstStyle/>
          <a:p>
            <a:pPr marL="0" indent="0">
              <a:buNone/>
            </a:pPr>
            <a:endParaRPr lang="en-US" dirty="0">
              <a:latin typeface="Times New Roman" panose="02020603050405020304" pitchFamily="18" charset="0"/>
              <a:cs typeface="Times New Roman" panose="02020603050405020304" pitchFamily="18" charset="0"/>
            </a:endParaRPr>
          </a:p>
          <a:p>
            <a:pPr marL="0" indent="0">
              <a:buNone/>
            </a:pPr>
            <a:endParaRPr lang="en-IN" dirty="0">
              <a:latin typeface="Times New Roman" panose="02020603050405020304" pitchFamily="18" charset="0"/>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spd="slow" p14:dur="800">
        <p:circle/>
      </p:transition>
    </mc:Choice>
    <mc:Fallback>
      <p:transition spd="slow">
        <p:circl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b="1" u="sng" dirty="0">
                <a:solidFill>
                  <a:schemeClr val="accent1"/>
                </a:solidFill>
                <a:latin typeface="Times New Roman" panose="02020603050405020304" pitchFamily="18" charset="0"/>
                <a:cs typeface="Times New Roman" panose="02020603050405020304" pitchFamily="18" charset="0"/>
              </a:rPr>
              <a:t>HARDWARE REQUIREMENTS</a:t>
            </a:r>
            <a:endParaRPr lang="en-IN" sz="4000" b="1" u="sng" dirty="0">
              <a:solidFill>
                <a:schemeClr val="accent1"/>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3060440" y="1905000"/>
            <a:ext cx="7492483" cy="4141236"/>
          </a:xfrm>
        </p:spPr>
        <p:txBody>
          <a:bodyPr/>
          <a:lstStyle/>
          <a:p>
            <a:pPr marL="0" indent="0">
              <a:buNone/>
            </a:pPr>
            <a:endParaRPr lang="en-IN" dirty="0">
              <a:latin typeface="Times New Roman" panose="02020603050405020304" pitchFamily="18" charset="0"/>
              <a:cs typeface="Times New Roman" panose="02020603050405020304" pitchFamily="18" charset="0"/>
            </a:endParaRPr>
          </a:p>
        </p:txBody>
      </p:sp>
      <p:graphicFrame>
        <p:nvGraphicFramePr>
          <p:cNvPr id="4" name="Table 3"/>
          <p:cNvGraphicFramePr>
            <a:graphicFrameLocks noGrp="1"/>
          </p:cNvGraphicFramePr>
          <p:nvPr/>
        </p:nvGraphicFramePr>
        <p:xfrm>
          <a:off x="2592926" y="1905000"/>
          <a:ext cx="7959997" cy="4141236"/>
        </p:xfrm>
        <a:graphic>
          <a:graphicData uri="http://schemas.openxmlformats.org/drawingml/2006/table">
            <a:tbl>
              <a:tblPr firstRow="1" bandRow="1">
                <a:tableStyleId>{5C22544A-7EE6-4342-B048-85BDC9FD1C3A}</a:tableStyleId>
              </a:tblPr>
              <a:tblGrid>
                <a:gridCol w="1989999"/>
                <a:gridCol w="2298065"/>
                <a:gridCol w="3671933"/>
              </a:tblGrid>
              <a:tr h="1035309">
                <a:tc gridSpan="2">
                  <a:txBody>
                    <a:bodyPr/>
                    <a:lstStyle/>
                    <a:p>
                      <a:r>
                        <a:rPr lang="en-US" dirty="0"/>
                        <a:t>MINIMUM (Required for Execution)</a:t>
                      </a:r>
                      <a:endParaRPr lang="en-IN" dirty="0"/>
                    </a:p>
                  </a:txBody>
                  <a:tcPr/>
                </a:tc>
                <a:tc hMerge="1">
                  <a:tcPr/>
                </a:tc>
                <a:tc>
                  <a:txBody>
                    <a:bodyPr/>
                    <a:lstStyle/>
                    <a:p>
                      <a:r>
                        <a:rPr lang="en-US" dirty="0"/>
                        <a:t>MY SYSTEM (Development)</a:t>
                      </a:r>
                      <a:endParaRPr lang="en-IN" dirty="0"/>
                    </a:p>
                  </a:txBody>
                  <a:tcPr/>
                </a:tc>
              </a:tr>
              <a:tr h="1035309">
                <a:tc>
                  <a:txBody>
                    <a:bodyPr/>
                    <a:lstStyle/>
                    <a:p>
                      <a:r>
                        <a:rPr lang="en-US" b="1" dirty="0"/>
                        <a:t>System</a:t>
                      </a:r>
                      <a:endParaRPr lang="en-IN" b="1" dirty="0"/>
                    </a:p>
                  </a:txBody>
                  <a:tcPr/>
                </a:tc>
                <a:tc>
                  <a:txBody>
                    <a:bodyPr/>
                    <a:lstStyle/>
                    <a:p>
                      <a:r>
                        <a:rPr lang="en-IN" b="0" dirty="0"/>
                        <a:t>Pentium IV 2.2 GHz</a:t>
                      </a:r>
                      <a:endParaRPr lang="en-IN" b="0" dirty="0"/>
                    </a:p>
                  </a:txBody>
                  <a:tcPr/>
                </a:tc>
                <a:tc>
                  <a:txBody>
                    <a:bodyPr/>
                    <a:lstStyle/>
                    <a:p>
                      <a:r>
                        <a:rPr lang="en-IN" b="0" dirty="0"/>
                        <a:t>I5 Processor 5th Gen</a:t>
                      </a:r>
                      <a:endParaRPr lang="en-IN" b="0" dirty="0"/>
                    </a:p>
                  </a:txBody>
                  <a:tcPr/>
                </a:tc>
              </a:tr>
              <a:tr h="1035309">
                <a:tc>
                  <a:txBody>
                    <a:bodyPr/>
                    <a:lstStyle/>
                    <a:p>
                      <a:r>
                        <a:rPr lang="en-US" b="1" dirty="0"/>
                        <a:t>Hard Disk</a:t>
                      </a:r>
                      <a:endParaRPr lang="en-IN" b="1" dirty="0"/>
                    </a:p>
                  </a:txBody>
                  <a:tcPr/>
                </a:tc>
                <a:tc>
                  <a:txBody>
                    <a:bodyPr/>
                    <a:lstStyle/>
                    <a:p>
                      <a:r>
                        <a:rPr lang="en-US" b="0" dirty="0"/>
                        <a:t>20 GB</a:t>
                      </a:r>
                      <a:endParaRPr lang="en-US" b="0" dirty="0"/>
                    </a:p>
                  </a:txBody>
                  <a:tcPr/>
                </a:tc>
                <a:tc>
                  <a:txBody>
                    <a:bodyPr/>
                    <a:lstStyle/>
                    <a:p>
                      <a:r>
                        <a:rPr lang="en-US" b="0" dirty="0"/>
                        <a:t>500 GB</a:t>
                      </a:r>
                      <a:endParaRPr lang="en-US" b="0" dirty="0"/>
                    </a:p>
                  </a:txBody>
                  <a:tcPr/>
                </a:tc>
              </a:tr>
              <a:tr h="1035309">
                <a:tc>
                  <a:txBody>
                    <a:bodyPr/>
                    <a:lstStyle/>
                    <a:p>
                      <a:r>
                        <a:rPr lang="en-US" b="1" dirty="0"/>
                        <a:t>Ram</a:t>
                      </a:r>
                      <a:endParaRPr lang="en-IN" b="1" dirty="0"/>
                    </a:p>
                  </a:txBody>
                  <a:tcPr/>
                </a:tc>
                <a:tc>
                  <a:txBody>
                    <a:bodyPr/>
                    <a:lstStyle/>
                    <a:p>
                      <a:r>
                        <a:rPr lang="en-US" b="0" dirty="0"/>
                        <a:t>1 GB</a:t>
                      </a:r>
                      <a:endParaRPr lang="en-US" b="0" dirty="0"/>
                    </a:p>
                  </a:txBody>
                  <a:tcPr/>
                </a:tc>
                <a:tc>
                  <a:txBody>
                    <a:bodyPr/>
                    <a:lstStyle/>
                    <a:p>
                      <a:r>
                        <a:rPr lang="en-US" b="0" dirty="0"/>
                        <a:t>4 GB</a:t>
                      </a:r>
                      <a:endParaRPr lang="en-US" b="0" dirty="0"/>
                    </a:p>
                  </a:txBody>
                  <a:tcPr/>
                </a:tc>
              </a:tr>
            </a:tbl>
          </a:graphicData>
        </a:graphic>
      </p:graphicFrame>
    </p:spTree>
  </p:cSld>
  <p:clrMapOvr>
    <a:masterClrMapping/>
  </p:clrMapOvr>
  <mc:AlternateContent xmlns:mc="http://schemas.openxmlformats.org/markup-compatibility/2006">
    <mc:Choice xmlns:p14="http://schemas.microsoft.com/office/powerpoint/2010/main" Requires="p14">
      <p:transition spd="slow" p14:dur="800">
        <p:circle/>
      </p:transition>
    </mc:Choice>
    <mc:Fallback>
      <p:transition spd="slow">
        <p:circl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146042" y="671804"/>
            <a:ext cx="7735076" cy="6494085"/>
          </a:xfrm>
          <a:prstGeom prst="rect">
            <a:avLst/>
          </a:prstGeom>
          <a:noFill/>
        </p:spPr>
        <p:txBody>
          <a:bodyPr wrap="square" rtlCol="0">
            <a:spAutoFit/>
          </a:bodyPr>
          <a:lstStyle/>
          <a:p>
            <a:r>
              <a:rPr lang="en-US" sz="4000" b="1" u="sng" dirty="0">
                <a:solidFill>
                  <a:schemeClr val="accent1"/>
                </a:solidFill>
              </a:rPr>
              <a:t>System Design:</a:t>
            </a:r>
            <a:endParaRPr lang="en-US" sz="4000" b="1" u="sng" dirty="0">
              <a:solidFill>
                <a:schemeClr val="accent1"/>
              </a:solidFill>
            </a:endParaRPr>
          </a:p>
          <a:p>
            <a:endParaRPr lang="en-US" sz="4000" b="1" dirty="0">
              <a:solidFill>
                <a:schemeClr val="accent1"/>
              </a:solidFill>
            </a:endParaRPr>
          </a:p>
          <a:p>
            <a:r>
              <a:rPr lang="en-US" sz="2400" b="1" dirty="0"/>
              <a:t>Class Diagram:</a:t>
            </a:r>
            <a:endParaRPr lang="en-US" sz="2400" b="1" dirty="0"/>
          </a:p>
          <a:p>
            <a:endParaRPr lang="en-US" sz="2400" b="1" dirty="0"/>
          </a:p>
          <a:p>
            <a:endParaRPr lang="en-US" sz="2400" b="1" dirty="0"/>
          </a:p>
          <a:p>
            <a:endParaRPr lang="en-US" sz="2400" b="1" dirty="0"/>
          </a:p>
          <a:p>
            <a:endParaRPr lang="en-US" sz="2400" b="1" dirty="0"/>
          </a:p>
          <a:p>
            <a:endParaRPr lang="en-US" sz="2400" b="1" dirty="0"/>
          </a:p>
          <a:p>
            <a:endParaRPr lang="en-US" sz="2400" b="1" dirty="0"/>
          </a:p>
          <a:p>
            <a:endParaRPr lang="en-US" sz="2400" b="1" dirty="0"/>
          </a:p>
          <a:p>
            <a:endParaRPr lang="en-US" sz="2400" b="1" dirty="0"/>
          </a:p>
          <a:p>
            <a:endParaRPr lang="en-US" sz="2400" b="1" dirty="0"/>
          </a:p>
          <a:p>
            <a:endParaRPr lang="en-US" sz="2400" b="1" dirty="0"/>
          </a:p>
          <a:p>
            <a:endParaRPr lang="en-US" sz="2400" b="1" dirty="0"/>
          </a:p>
          <a:p>
            <a:endParaRPr lang="en-US" sz="2400" b="1" dirty="0"/>
          </a:p>
          <a:p>
            <a:endParaRPr lang="en-IN" sz="2400" b="1" dirty="0"/>
          </a:p>
        </p:txBody>
      </p:sp>
      <p:pic>
        <p:nvPicPr>
          <p:cNvPr id="5" name="Content Placeholder 4"/>
          <p:cNvPicPr>
            <a:picLocks noGrp="1" noChangeAspect="1"/>
          </p:cNvPicPr>
          <p:nvPr/>
        </p:nvPicPr>
        <p:blipFill>
          <a:blip r:embed="rId1" cstate="print">
            <a:extLst>
              <a:ext uri="{28A0092B-C50C-407E-A947-70E740481C1C}">
                <a14:useLocalDpi xmlns:a14="http://schemas.microsoft.com/office/drawing/2010/main" val="0"/>
              </a:ext>
            </a:extLst>
          </a:blip>
          <a:stretch>
            <a:fillRect/>
          </a:stretch>
        </p:blipFill>
        <p:spPr>
          <a:xfrm>
            <a:off x="4673600" y="2147570"/>
            <a:ext cx="5125720" cy="405130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360646" y="709127"/>
            <a:ext cx="8332236" cy="5970865"/>
          </a:xfrm>
          <a:prstGeom prst="rect">
            <a:avLst/>
          </a:prstGeom>
          <a:noFill/>
        </p:spPr>
        <p:txBody>
          <a:bodyPr wrap="square" rtlCol="0">
            <a:spAutoFit/>
          </a:bodyPr>
          <a:lstStyle/>
          <a:p>
            <a:r>
              <a:rPr lang="en-US" sz="2800" b="1" dirty="0"/>
              <a:t>Activity Diagram:</a:t>
            </a:r>
            <a:endParaRPr lang="en-US" sz="2800" b="1" dirty="0"/>
          </a:p>
          <a:p>
            <a:endParaRPr lang="en-US" sz="2800" b="1" dirty="0"/>
          </a:p>
          <a:p>
            <a:endParaRPr lang="en-US" sz="2800" b="1" dirty="0"/>
          </a:p>
          <a:p>
            <a:endParaRPr lang="en-US" sz="2800" b="1" dirty="0"/>
          </a:p>
          <a:p>
            <a:endParaRPr lang="en-US" sz="2800" b="1" dirty="0"/>
          </a:p>
          <a:p>
            <a:endParaRPr lang="en-US" sz="2800" b="1" dirty="0"/>
          </a:p>
          <a:p>
            <a:endParaRPr lang="en-US" sz="2800" b="1" dirty="0"/>
          </a:p>
          <a:p>
            <a:endParaRPr lang="en-US" sz="2800" b="1" dirty="0"/>
          </a:p>
          <a:p>
            <a:endParaRPr lang="en-US" sz="2800" b="1" dirty="0"/>
          </a:p>
          <a:p>
            <a:endParaRPr lang="en-US" sz="2800" b="1" dirty="0"/>
          </a:p>
          <a:p>
            <a:endParaRPr lang="en-US" sz="2800" b="1" dirty="0"/>
          </a:p>
          <a:p>
            <a:endParaRPr lang="en-US" sz="2800" b="1" dirty="0"/>
          </a:p>
          <a:p>
            <a:endParaRPr lang="en-US" sz="2800" b="1" dirty="0"/>
          </a:p>
          <a:p>
            <a:endParaRPr lang="en-IN" b="1" dirty="0"/>
          </a:p>
        </p:txBody>
      </p:sp>
      <p:pic>
        <p:nvPicPr>
          <p:cNvPr id="7" name="Picture 6"/>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4028440" y="1494155"/>
            <a:ext cx="3814445" cy="4853305"/>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155370" y="746449"/>
            <a:ext cx="8742785" cy="5693866"/>
          </a:xfrm>
          <a:prstGeom prst="rect">
            <a:avLst/>
          </a:prstGeom>
          <a:noFill/>
        </p:spPr>
        <p:txBody>
          <a:bodyPr wrap="square" rtlCol="0">
            <a:spAutoFit/>
          </a:bodyPr>
          <a:lstStyle/>
          <a:p>
            <a:r>
              <a:rPr lang="en-US" sz="2800" b="1" dirty="0"/>
              <a:t>Sequence Diagram</a:t>
            </a:r>
            <a:r>
              <a:rPr lang="en-US" sz="2400" b="1" dirty="0"/>
              <a:t>:</a:t>
            </a:r>
            <a:endParaRPr lang="en-US" sz="2400" b="1" dirty="0"/>
          </a:p>
          <a:p>
            <a:endParaRPr lang="en-US" sz="2400" b="1" dirty="0"/>
          </a:p>
          <a:p>
            <a:endParaRPr lang="en-US" sz="2400" b="1" dirty="0"/>
          </a:p>
          <a:p>
            <a:endParaRPr lang="en-US" sz="2400" b="1" dirty="0"/>
          </a:p>
          <a:p>
            <a:endParaRPr lang="en-US" sz="2400" b="1" dirty="0"/>
          </a:p>
          <a:p>
            <a:endParaRPr lang="en-US" sz="2400" b="1" dirty="0"/>
          </a:p>
          <a:p>
            <a:endParaRPr lang="en-US" sz="2400" b="1" dirty="0"/>
          </a:p>
          <a:p>
            <a:endParaRPr lang="en-US" sz="2400" b="1" dirty="0"/>
          </a:p>
          <a:p>
            <a:endParaRPr lang="en-US" sz="2400" b="1" dirty="0"/>
          </a:p>
          <a:p>
            <a:endParaRPr lang="en-US" sz="2400" b="1" dirty="0"/>
          </a:p>
          <a:p>
            <a:endParaRPr lang="en-US" sz="2400" b="1" dirty="0"/>
          </a:p>
          <a:p>
            <a:endParaRPr lang="en-US" sz="2400" b="1" dirty="0"/>
          </a:p>
          <a:p>
            <a:endParaRPr lang="en-US" sz="2400" b="1" dirty="0"/>
          </a:p>
          <a:p>
            <a:endParaRPr lang="en-US" sz="2400" b="1" dirty="0"/>
          </a:p>
          <a:p>
            <a:endParaRPr lang="en-IN" sz="2400" b="1" dirty="0"/>
          </a:p>
        </p:txBody>
      </p:sp>
      <p:pic>
        <p:nvPicPr>
          <p:cNvPr id="3" name="image17.png" descr="The Sequence Diagram of the Learning Design Pattern | Download Scientific  Diagram"/>
          <p:cNvPicPr>
            <a:picLocks noChangeAspect="1"/>
          </p:cNvPicPr>
          <p:nvPr/>
        </p:nvPicPr>
        <p:blipFill>
          <a:blip r:embed="rId1" cstate="print"/>
          <a:stretch>
            <a:fillRect/>
          </a:stretch>
        </p:blipFill>
        <p:spPr>
          <a:xfrm>
            <a:off x="2696547" y="1754154"/>
            <a:ext cx="7119257" cy="4002833"/>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295331" y="727788"/>
            <a:ext cx="8238930" cy="5632311"/>
          </a:xfrm>
          <a:prstGeom prst="rect">
            <a:avLst/>
          </a:prstGeom>
          <a:noFill/>
        </p:spPr>
        <p:txBody>
          <a:bodyPr wrap="square" rtlCol="0">
            <a:spAutoFit/>
          </a:bodyPr>
          <a:lstStyle/>
          <a:p>
            <a:r>
              <a:rPr lang="en-US" sz="2400" b="1" dirty="0"/>
              <a:t>Data Flow Diagram:</a:t>
            </a:r>
            <a:endParaRPr lang="en-US" sz="2400" b="1" dirty="0"/>
          </a:p>
          <a:p>
            <a:endParaRPr lang="en-US" sz="2400" b="1" dirty="0"/>
          </a:p>
          <a:p>
            <a:endParaRPr lang="en-US" sz="2400" b="1" dirty="0"/>
          </a:p>
          <a:p>
            <a:endParaRPr lang="en-US" sz="2400" b="1" dirty="0"/>
          </a:p>
          <a:p>
            <a:endParaRPr lang="en-US" sz="2400" b="1" dirty="0"/>
          </a:p>
          <a:p>
            <a:endParaRPr lang="en-US" sz="2400" b="1" dirty="0"/>
          </a:p>
          <a:p>
            <a:endParaRPr lang="en-US" sz="2400" b="1" dirty="0"/>
          </a:p>
          <a:p>
            <a:endParaRPr lang="en-US" sz="2400" b="1" dirty="0"/>
          </a:p>
          <a:p>
            <a:endParaRPr lang="en-US" sz="2400" b="1" dirty="0"/>
          </a:p>
          <a:p>
            <a:endParaRPr lang="en-US" sz="2400" b="1" dirty="0"/>
          </a:p>
          <a:p>
            <a:endParaRPr lang="en-US" sz="2400" b="1" dirty="0"/>
          </a:p>
          <a:p>
            <a:endParaRPr lang="en-US" sz="2400" b="1" dirty="0"/>
          </a:p>
          <a:p>
            <a:endParaRPr lang="en-US" sz="2400" b="1" dirty="0"/>
          </a:p>
          <a:p>
            <a:endParaRPr lang="en-US" sz="2400" b="1" dirty="0"/>
          </a:p>
          <a:p>
            <a:endParaRPr lang="en-IN" sz="2400" b="1" dirty="0"/>
          </a:p>
        </p:txBody>
      </p:sp>
      <p:pic>
        <p:nvPicPr>
          <p:cNvPr id="11" name="Content Placeholder 10"/>
          <p:cNvPicPr>
            <a:picLocks noGrp="1" noChangeAspect="1"/>
          </p:cNvPicPr>
          <p:nvPr/>
        </p:nvPicPr>
        <p:blipFill>
          <a:blip r:embed="rId1" cstate="print">
            <a:extLst>
              <a:ext uri="{28A0092B-C50C-407E-A947-70E740481C1C}">
                <a14:useLocalDpi xmlns:a14="http://schemas.microsoft.com/office/drawing/2010/main" val="0"/>
              </a:ext>
            </a:extLst>
          </a:blip>
          <a:stretch>
            <a:fillRect/>
          </a:stretch>
        </p:blipFill>
        <p:spPr>
          <a:xfrm>
            <a:off x="3126105" y="1369060"/>
            <a:ext cx="5939155" cy="4990465"/>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4000" b="1" u="sng" dirty="0">
                <a:solidFill>
                  <a:schemeClr val="accent1"/>
                </a:solidFill>
              </a:rPr>
              <a:t>Output Screens:</a:t>
            </a:r>
            <a:endParaRPr lang="en-IN" sz="4000" b="1" u="sng" dirty="0">
              <a:solidFill>
                <a:schemeClr val="accent1"/>
              </a:solidFill>
            </a:endParaRPr>
          </a:p>
        </p:txBody>
      </p:sp>
      <p:sp>
        <p:nvSpPr>
          <p:cNvPr id="6" name="TextBox 5"/>
          <p:cNvSpPr txBox="1"/>
          <p:nvPr/>
        </p:nvSpPr>
        <p:spPr>
          <a:xfrm>
            <a:off x="1996752" y="5774094"/>
            <a:ext cx="4114798" cy="368300"/>
          </a:xfrm>
          <a:prstGeom prst="rect">
            <a:avLst/>
          </a:prstGeom>
          <a:noFill/>
        </p:spPr>
        <p:txBody>
          <a:bodyPr wrap="square" rtlCol="0">
            <a:spAutoFit/>
          </a:bodyPr>
          <a:lstStyle/>
          <a:p>
            <a:endParaRPr lang="en-IN" dirty="0">
              <a:latin typeface="Times New Roman" panose="02020603050405020304" pitchFamily="18" charset="0"/>
              <a:cs typeface="Times New Roman" panose="02020603050405020304" pitchFamily="18" charset="0"/>
            </a:endParaRPr>
          </a:p>
        </p:txBody>
      </p:sp>
      <p:sp>
        <p:nvSpPr>
          <p:cNvPr id="15" name="Text Box 14"/>
          <p:cNvSpPr txBox="1"/>
          <p:nvPr/>
        </p:nvSpPr>
        <p:spPr>
          <a:xfrm>
            <a:off x="6111240" y="1407160"/>
            <a:ext cx="5065395" cy="4504055"/>
          </a:xfrm>
          <a:prstGeom prst="rect">
            <a:avLst/>
          </a:prstGeom>
          <a:noFill/>
        </p:spPr>
        <p:txBody>
          <a:bodyPr wrap="square" rtlCol="0">
            <a:noAutofit/>
          </a:bodyPr>
          <a:p>
            <a:endParaRPr lang="en-US"/>
          </a:p>
        </p:txBody>
      </p:sp>
      <p:sp>
        <p:nvSpPr>
          <p:cNvPr id="19" name="Content Placeholder 18"/>
          <p:cNvSpPr/>
          <p:nvPr>
            <p:ph sz="half" idx="2"/>
          </p:nvPr>
        </p:nvSpPr>
        <p:spPr>
          <a:xfrm>
            <a:off x="7190740" y="2125980"/>
            <a:ext cx="1021080" cy="2100580"/>
          </a:xfrm>
        </p:spPr>
        <p:txBody>
          <a:bodyPr/>
          <a:p>
            <a:pPr marL="0" indent="0">
              <a:buNone/>
            </a:pPr>
            <a:endParaRPr lang="en-US"/>
          </a:p>
        </p:txBody>
      </p:sp>
      <p:pic>
        <p:nvPicPr>
          <p:cNvPr id="20" name="Content Placeholder 19"/>
          <p:cNvPicPr>
            <a:picLocks noChangeAspect="1"/>
          </p:cNvPicPr>
          <p:nvPr>
            <p:ph sz="half" idx="1"/>
          </p:nvPr>
        </p:nvPicPr>
        <p:blipFill>
          <a:blip r:embed="rId1"/>
          <a:stretch>
            <a:fillRect/>
          </a:stretch>
        </p:blipFill>
        <p:spPr>
          <a:xfrm>
            <a:off x="1786255" y="1514475"/>
            <a:ext cx="8923020" cy="4547235"/>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800">
        <p:circle/>
      </p:transition>
    </mc:Choice>
    <mc:Fallback>
      <p:transition spd="slow">
        <p:circl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2592705" y="1343660"/>
            <a:ext cx="4765040" cy="561340"/>
          </a:xfrm>
        </p:spPr>
        <p:txBody>
          <a:bodyPr>
            <a:normAutofit fontScale="90000"/>
          </a:bodyPr>
          <a:p>
            <a:endParaRPr lang="en-US"/>
          </a:p>
        </p:txBody>
      </p:sp>
      <p:sp>
        <p:nvSpPr>
          <p:cNvPr id="4" name="Content Placeholder 3"/>
          <p:cNvSpPr>
            <a:spLocks noGrp="1"/>
          </p:cNvSpPr>
          <p:nvPr>
            <p:ph sz="half" idx="2"/>
          </p:nvPr>
        </p:nvSpPr>
        <p:spPr>
          <a:xfrm>
            <a:off x="6327140" y="2619375"/>
            <a:ext cx="3068320" cy="589280"/>
          </a:xfrm>
        </p:spPr>
        <p:txBody>
          <a:bodyPr/>
          <a:p>
            <a:endParaRPr lang="en-US"/>
          </a:p>
        </p:txBody>
      </p:sp>
      <p:pic>
        <p:nvPicPr>
          <p:cNvPr id="8" name="Content Placeholder 7"/>
          <p:cNvPicPr>
            <a:picLocks noChangeAspect="1"/>
          </p:cNvPicPr>
          <p:nvPr>
            <p:ph sz="half" idx="1"/>
          </p:nvPr>
        </p:nvPicPr>
        <p:blipFill>
          <a:blip r:embed="rId1"/>
          <a:stretch>
            <a:fillRect/>
          </a:stretch>
        </p:blipFill>
        <p:spPr>
          <a:xfrm>
            <a:off x="2035175" y="1033780"/>
            <a:ext cx="8475980" cy="5062855"/>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4177030" y="1497965"/>
            <a:ext cx="3778250" cy="509270"/>
          </a:xfrm>
        </p:spPr>
        <p:txBody>
          <a:bodyPr>
            <a:normAutofit fontScale="90000"/>
          </a:bodyPr>
          <a:p>
            <a:endParaRPr lang="en-US"/>
          </a:p>
        </p:txBody>
      </p:sp>
      <p:sp>
        <p:nvSpPr>
          <p:cNvPr id="4" name="Content Placeholder 3"/>
          <p:cNvSpPr>
            <a:spLocks noGrp="1"/>
          </p:cNvSpPr>
          <p:nvPr>
            <p:ph sz="half" idx="2"/>
          </p:nvPr>
        </p:nvSpPr>
        <p:spPr>
          <a:xfrm>
            <a:off x="7190740" y="2125980"/>
            <a:ext cx="2482850" cy="639445"/>
          </a:xfrm>
        </p:spPr>
        <p:txBody>
          <a:bodyPr/>
          <a:p>
            <a:endParaRPr lang="en-US"/>
          </a:p>
        </p:txBody>
      </p:sp>
      <p:pic>
        <p:nvPicPr>
          <p:cNvPr id="5" name="Content Placeholder 4"/>
          <p:cNvPicPr>
            <a:picLocks noChangeAspect="1"/>
          </p:cNvPicPr>
          <p:nvPr>
            <p:ph sz="half" idx="1"/>
          </p:nvPr>
        </p:nvPicPr>
        <p:blipFill>
          <a:blip r:embed="rId1"/>
          <a:stretch>
            <a:fillRect/>
          </a:stretch>
        </p:blipFill>
        <p:spPr>
          <a:xfrm>
            <a:off x="1909445" y="1001395"/>
            <a:ext cx="9047480" cy="5196840"/>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b="1" u="sng" dirty="0">
                <a:solidFill>
                  <a:schemeClr val="accent1"/>
                </a:solidFill>
                <a:latin typeface="Times New Roman" panose="02020603050405020304" pitchFamily="18" charset="0"/>
                <a:cs typeface="Times New Roman" panose="02020603050405020304" pitchFamily="18" charset="0"/>
              </a:rPr>
              <a:t>CONCLUSION</a:t>
            </a:r>
            <a:endParaRPr lang="en-IN" sz="4000" b="1" u="sng" dirty="0">
              <a:solidFill>
                <a:schemeClr val="accent1"/>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2589212" y="1905000"/>
            <a:ext cx="8915400" cy="3777622"/>
          </a:xfrm>
        </p:spPr>
        <p:txBody>
          <a:bodyPr>
            <a:noAutofit/>
          </a:bodyPr>
          <a:lstStyle/>
          <a:p>
            <a:pPr marL="0" indent="0">
              <a:buNone/>
            </a:pPr>
            <a:r>
              <a:rPr lang="en-US" dirty="0">
                <a:latin typeface="Times New Roman" panose="02020603050405020304" pitchFamily="18" charset="0"/>
                <a:cs typeface="Times New Roman" panose="02020603050405020304" pitchFamily="18" charset="0"/>
              </a:rPr>
              <a:t>In conclusion, the "Leaf Disease Detection Using Deep Learning" project demonstrates a significant advancement in agricultural technology by leveraging advanced deep learning techniques to accurately identify and classify leaf diseases. By integrating a user-friendly interface with robust backend functionalities, the system not only enhances the efficiency of disease detection but also provides actionable insights for effective plant management. The use of convolutional neural networks and cloud-based data storage ensures high accuracy and scalability, while data deduplication optimizes storage and processing efficiency. As the project progresses, future enhancements such as IoT integration, mobile application development, and improved user interfaces will further elevate its capabilities, offering even greater value to farmers and researchers. Ultimately, this project represents a pivotal step towards more proactive and informed plant health management, promising to contribute significantly to the agricultural sector's efforts in combating plant diseases.</a:t>
            </a:r>
            <a:endParaRPr lang="en-IN" dirty="0">
              <a:latin typeface="Times New Roman" panose="02020603050405020304" pitchFamily="18" charset="0"/>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spd="slow" p14:dur="800">
        <p:circle/>
      </p:transition>
    </mc:Choice>
    <mc:Fallback>
      <p:transition spd="slow">
        <p:circl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940768" y="643812"/>
            <a:ext cx="9909112" cy="4124206"/>
          </a:xfrm>
          <a:prstGeom prst="rect">
            <a:avLst/>
          </a:prstGeom>
          <a:noFill/>
        </p:spPr>
        <p:txBody>
          <a:bodyPr wrap="square" rtlCol="0">
            <a:spAutoFit/>
          </a:bodyPr>
          <a:lstStyle/>
          <a:p>
            <a:r>
              <a:rPr lang="en-US" sz="4000" b="1" u="sng" dirty="0">
                <a:solidFill>
                  <a:schemeClr val="accent1"/>
                </a:solidFill>
              </a:rPr>
              <a:t>Future Enhancement:</a:t>
            </a:r>
            <a:endParaRPr lang="en-US" sz="4000" b="1" u="sng" dirty="0">
              <a:solidFill>
                <a:schemeClr val="accent1"/>
              </a:solidFill>
            </a:endParaRPr>
          </a:p>
          <a:p>
            <a:endParaRPr lang="en-US" sz="2800" b="1" dirty="0">
              <a:solidFill>
                <a:schemeClr val="accent1"/>
              </a:solidFill>
            </a:endParaRPr>
          </a:p>
          <a:p>
            <a:pPr marL="285750" indent="-285750">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Mobile Application:</a:t>
            </a:r>
            <a:r>
              <a:rPr lang="en-US" dirty="0">
                <a:latin typeface="Times New Roman" panose="02020603050405020304" pitchFamily="18" charset="0"/>
                <a:cs typeface="Times New Roman" panose="02020603050405020304" pitchFamily="18" charset="0"/>
              </a:rPr>
              <a:t> Create a mobile app that allows users to capture leaf images and receive instant disease detection results and treatment recommendations on the go.</a:t>
            </a:r>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Enhanced User Interface:</a:t>
            </a:r>
            <a:r>
              <a:rPr lang="en-US" dirty="0">
                <a:latin typeface="Times New Roman" panose="02020603050405020304" pitchFamily="18" charset="0"/>
                <a:cs typeface="Times New Roman" panose="02020603050405020304" pitchFamily="18" charset="0"/>
              </a:rPr>
              <a:t> Develop a more intuitive and interactive user interface with features like real-time notifications, detailed analytics, and personalized recommendations based on detected diseases.</a:t>
            </a:r>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Automated Disease Treatment Recommendations:</a:t>
            </a:r>
            <a:r>
              <a:rPr lang="en-US" dirty="0">
                <a:latin typeface="Times New Roman" panose="02020603050405020304" pitchFamily="18" charset="0"/>
                <a:cs typeface="Times New Roman" panose="02020603050405020304" pitchFamily="18" charset="0"/>
              </a:rPr>
              <a:t> Integrate a recommendation system that suggests specific treatments or preventive measures based on the identified diseases and their severity.</a:t>
            </a:r>
            <a:endParaRPr lang="en-US"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endParaRPr lang="en-US" sz="1600" b="1" dirty="0">
              <a:solidFill>
                <a:schemeClr val="accent1"/>
              </a:solidFill>
            </a:endParaRPr>
          </a:p>
          <a:p>
            <a:endParaRPr lang="en-US" sz="1600" b="1" dirty="0">
              <a:solidFill>
                <a:schemeClr val="accent1"/>
              </a:solidFill>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b="1" u="sng" dirty="0">
                <a:solidFill>
                  <a:schemeClr val="accent1"/>
                </a:solidFill>
                <a:latin typeface="Times New Roman" panose="02020603050405020304" pitchFamily="18" charset="0"/>
                <a:cs typeface="Times New Roman" panose="02020603050405020304" pitchFamily="18" charset="0"/>
              </a:rPr>
              <a:t>REFERENCES</a:t>
            </a:r>
            <a:endParaRPr lang="en-IN" sz="4000" b="1" u="sng" dirty="0">
              <a:solidFill>
                <a:schemeClr val="accent1"/>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2592925" y="1569096"/>
            <a:ext cx="8915400" cy="4664794"/>
          </a:xfrm>
        </p:spPr>
        <p:txBody>
          <a:bodyPr>
            <a:noAutofit/>
          </a:bodyPr>
          <a:lstStyle/>
          <a:p>
            <a:endParaRPr lang="en-US" dirty="0">
              <a:latin typeface="Times New Roman" panose="02020603050405020304" pitchFamily="18" charset="0"/>
              <a:cs typeface="Times New Roman" panose="02020603050405020304" pitchFamily="18" charset="0"/>
            </a:endParaRPr>
          </a:p>
          <a:p>
            <a:r>
              <a:rPr lang="en-US" b="1" dirty="0">
                <a:latin typeface="Times New Roman" panose="02020603050405020304" pitchFamily="18" charset="0"/>
                <a:cs typeface="Times New Roman" panose="02020603050405020304" pitchFamily="18" charset="0"/>
              </a:rPr>
              <a:t>Sofia Ahmed and Michael Lee,</a:t>
            </a:r>
            <a:r>
              <a:rPr lang="en-US" dirty="0">
                <a:latin typeface="Times New Roman" panose="02020603050405020304" pitchFamily="18" charset="0"/>
                <a:cs typeface="Times New Roman" panose="02020603050405020304" pitchFamily="18" charset="0"/>
              </a:rPr>
              <a:t> "Optimizing Leaf Disease Detection Systems Using Transfer Learning," </a:t>
            </a:r>
            <a:r>
              <a:rPr lang="en-US" i="1" dirty="0">
                <a:latin typeface="Times New Roman" panose="02020603050405020304" pitchFamily="18" charset="0"/>
                <a:cs typeface="Times New Roman" panose="02020603050405020304" pitchFamily="18" charset="0"/>
              </a:rPr>
              <a:t>Proceedings of the IEEE Conference on Computer Vision and Pattern Recognition,</a:t>
            </a:r>
            <a:r>
              <a:rPr lang="en-US" dirty="0">
                <a:latin typeface="Times New Roman" panose="02020603050405020304" pitchFamily="18" charset="0"/>
                <a:cs typeface="Times New Roman" panose="02020603050405020304" pitchFamily="18" charset="0"/>
              </a:rPr>
              <a:t> 2024.</a:t>
            </a:r>
            <a:endParaRPr lang="en-US" dirty="0">
              <a:latin typeface="Times New Roman" panose="02020603050405020304" pitchFamily="18" charset="0"/>
              <a:cs typeface="Times New Roman" panose="02020603050405020304" pitchFamily="18" charset="0"/>
            </a:endParaRPr>
          </a:p>
          <a:p>
            <a:r>
              <a:rPr lang="en-US" b="1" dirty="0">
                <a:latin typeface="Times New Roman" panose="02020603050405020304" pitchFamily="18" charset="0"/>
                <a:cs typeface="Times New Roman" panose="02020603050405020304" pitchFamily="18" charset="0"/>
                <a:sym typeface="+mn-ea"/>
              </a:rPr>
              <a:t>Amit Kumar and Priya Sharma,</a:t>
            </a:r>
            <a:r>
              <a:rPr lang="en-US" dirty="0">
                <a:latin typeface="Times New Roman" panose="02020603050405020304" pitchFamily="18" charset="0"/>
                <a:cs typeface="Times New Roman" panose="02020603050405020304" pitchFamily="18" charset="0"/>
                <a:sym typeface="+mn-ea"/>
              </a:rPr>
              <a:t> "Data Deduplication Strategies for Efficient Cloud Storage in Agricultural Research," </a:t>
            </a:r>
            <a:r>
              <a:rPr lang="en-US" i="1" dirty="0">
                <a:latin typeface="Times New Roman" panose="02020603050405020304" pitchFamily="18" charset="0"/>
                <a:cs typeface="Times New Roman" panose="02020603050405020304" pitchFamily="18" charset="0"/>
                <a:sym typeface="+mn-ea"/>
              </a:rPr>
              <a:t>Journal of Cloud Computing and Storage,</a:t>
            </a:r>
            <a:r>
              <a:rPr lang="en-US" dirty="0">
                <a:latin typeface="Times New Roman" panose="02020603050405020304" pitchFamily="18" charset="0"/>
                <a:cs typeface="Times New Roman" panose="02020603050405020304" pitchFamily="18" charset="0"/>
                <a:sym typeface="+mn-ea"/>
              </a:rPr>
              <a:t> 2023.</a:t>
            </a:r>
            <a:endParaRPr lang="en-US" dirty="0">
              <a:latin typeface="Times New Roman" panose="02020603050405020304" pitchFamily="18" charset="0"/>
              <a:cs typeface="Times New Roman" panose="02020603050405020304" pitchFamily="18" charset="0"/>
            </a:endParaRPr>
          </a:p>
          <a:p>
            <a:r>
              <a:rPr lang="en-US" b="1" dirty="0">
                <a:latin typeface="Times New Roman" panose="02020603050405020304" pitchFamily="18" charset="0"/>
                <a:cs typeface="Times New Roman" panose="02020603050405020304" pitchFamily="18" charset="0"/>
              </a:rPr>
              <a:t>Carlos Rivera and Elena Torres,</a:t>
            </a:r>
            <a:r>
              <a:rPr lang="en-US" dirty="0">
                <a:latin typeface="Times New Roman" panose="02020603050405020304" pitchFamily="18" charset="0"/>
                <a:cs typeface="Times New Roman" panose="02020603050405020304" pitchFamily="18" charset="0"/>
              </a:rPr>
              <a:t> "A Comparative Study of Deep Learning Models for Plant Disease Classification," </a:t>
            </a:r>
            <a:r>
              <a:rPr lang="en-US" i="1" dirty="0">
                <a:latin typeface="Times New Roman" panose="02020603050405020304" pitchFamily="18" charset="0"/>
                <a:cs typeface="Times New Roman" panose="02020603050405020304" pitchFamily="18" charset="0"/>
              </a:rPr>
              <a:t>International Journal of Computer Vision and Pattern Recognition,</a:t>
            </a:r>
            <a:r>
              <a:rPr lang="en-US" dirty="0">
                <a:latin typeface="Times New Roman" panose="02020603050405020304" pitchFamily="18" charset="0"/>
                <a:cs typeface="Times New Roman" panose="02020603050405020304" pitchFamily="18" charset="0"/>
              </a:rPr>
              <a:t> 2023.</a:t>
            </a:r>
            <a:endParaRPr lang="en-US" dirty="0">
              <a:latin typeface="Times New Roman" panose="02020603050405020304" pitchFamily="18" charset="0"/>
              <a:cs typeface="Times New Roman" panose="02020603050405020304" pitchFamily="18" charset="0"/>
            </a:endParaRPr>
          </a:p>
          <a:p>
            <a:r>
              <a:rPr lang="en-US" b="1" dirty="0">
                <a:latin typeface="Times New Roman" panose="02020603050405020304" pitchFamily="18" charset="0"/>
                <a:cs typeface="Times New Roman" panose="02020603050405020304" pitchFamily="18" charset="0"/>
                <a:sym typeface="+mn-ea"/>
              </a:rPr>
              <a:t>Jane Smith,</a:t>
            </a:r>
            <a:r>
              <a:rPr lang="en-US" dirty="0">
                <a:latin typeface="Times New Roman" panose="02020603050405020304" pitchFamily="18" charset="0"/>
                <a:cs typeface="Times New Roman" panose="02020603050405020304" pitchFamily="18" charset="0"/>
                <a:sym typeface="+mn-ea"/>
              </a:rPr>
              <a:t> "Improving Plant Disease Detection with Deep Learning Techniques," </a:t>
            </a:r>
            <a:r>
              <a:rPr lang="en-US" i="1" dirty="0">
                <a:latin typeface="Times New Roman" panose="02020603050405020304" pitchFamily="18" charset="0"/>
                <a:cs typeface="Times New Roman" panose="02020603050405020304" pitchFamily="18" charset="0"/>
                <a:sym typeface="+mn-ea"/>
              </a:rPr>
              <a:t>International Conference on Machine Learning and Applications,</a:t>
            </a:r>
            <a:r>
              <a:rPr lang="en-US" dirty="0">
                <a:latin typeface="Times New Roman" panose="02020603050405020304" pitchFamily="18" charset="0"/>
                <a:cs typeface="Times New Roman" panose="02020603050405020304" pitchFamily="18" charset="0"/>
                <a:sym typeface="+mn-ea"/>
              </a:rPr>
              <a:t> 2022.</a:t>
            </a:r>
            <a:endParaRPr lang="en-US" dirty="0">
              <a:latin typeface="Times New Roman" panose="02020603050405020304" pitchFamily="18" charset="0"/>
              <a:cs typeface="Times New Roman" panose="02020603050405020304" pitchFamily="18" charset="0"/>
            </a:endParaRPr>
          </a:p>
          <a:p>
            <a:r>
              <a:rPr lang="en-US" sz="2000" b="1" dirty="0">
                <a:latin typeface="Times New Roman" panose="02020603050405020304" pitchFamily="18" charset="0"/>
                <a:cs typeface="Times New Roman" panose="02020603050405020304" pitchFamily="18" charset="0"/>
                <a:sym typeface="+mn-ea"/>
              </a:rPr>
              <a:t>John Doe,</a:t>
            </a:r>
            <a:r>
              <a:rPr lang="en-US" sz="2000" dirty="0">
                <a:latin typeface="Times New Roman" panose="02020603050405020304" pitchFamily="18" charset="0"/>
                <a:cs typeface="Times New Roman" panose="02020603050405020304" pitchFamily="18" charset="0"/>
                <a:sym typeface="+mn-ea"/>
              </a:rPr>
              <a:t> "Leaf Disease Detection Using Convolutional Neural Networks," </a:t>
            </a:r>
            <a:r>
              <a:rPr lang="en-US" sz="2000" i="1" dirty="0">
                <a:latin typeface="Times New Roman" panose="02020603050405020304" pitchFamily="18" charset="0"/>
                <a:cs typeface="Times New Roman" panose="02020603050405020304" pitchFamily="18" charset="0"/>
                <a:sym typeface="+mn-ea"/>
              </a:rPr>
              <a:t>Journal of Agricultural Technology,</a:t>
            </a:r>
            <a:r>
              <a:rPr lang="en-US" sz="2000" dirty="0">
                <a:latin typeface="Times New Roman" panose="02020603050405020304" pitchFamily="18" charset="0"/>
                <a:cs typeface="Times New Roman" panose="02020603050405020304" pitchFamily="18" charset="0"/>
                <a:sym typeface="+mn-ea"/>
              </a:rPr>
              <a:t> 2021.</a:t>
            </a:r>
            <a:endParaRPr lang="en-US" sz="2000" dirty="0">
              <a:latin typeface="Times New Roman" panose="02020603050405020304" pitchFamily="18" charset="0"/>
              <a:cs typeface="Times New Roman" panose="02020603050405020304" pitchFamily="18" charset="0"/>
            </a:endParaRPr>
          </a:p>
          <a:p>
            <a:endParaRPr lang="en-US" sz="2000" dirty="0">
              <a:latin typeface="Times New Roman" panose="02020603050405020304" pitchFamily="18" charset="0"/>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spd="slow" p14:dur="800">
        <p:circle/>
      </p:transition>
    </mc:Choice>
    <mc:Fallback>
      <p:transition spd="slow">
        <p:circl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bg>
      <p:bgPr>
        <a:gradFill rotWithShape="1">
          <a:gsLst>
            <a:gs pos="9000">
              <a:schemeClr val="bg2">
                <a:tint val="90000"/>
                <a:satMod val="92000"/>
                <a:lumMod val="120000"/>
              </a:schemeClr>
            </a:gs>
            <a:gs pos="42000">
              <a:schemeClr val="bg2">
                <a:shade val="98000"/>
                <a:satMod val="120000"/>
                <a:lumMod val="98000"/>
              </a:schemeClr>
            </a:gs>
          </a:gsLst>
          <a:path path="circle">
            <a:fillToRect l="50000" t="50000" r="100000" b="100000"/>
          </a:path>
        </a:gradFill>
        <a:effectLst/>
      </p:bgPr>
    </p:bg>
    <p:spTree>
      <p:nvGrpSpPr>
        <p:cNvPr id="1" name=""/>
        <p:cNvGrpSpPr/>
        <p:nvPr/>
      </p:nvGrpSpPr>
      <p:grpSpPr>
        <a:xfrm>
          <a:off x="0" y="0"/>
          <a:ext cx="0" cy="0"/>
          <a:chOff x="0" y="0"/>
          <a:chExt cx="0" cy="0"/>
        </a:xfrm>
      </p:grpSpPr>
      <p:pic>
        <p:nvPicPr>
          <p:cNvPr id="9" name="Content Placeholder 8"/>
          <p:cNvPicPr>
            <a:picLocks noGrp="1" noChangeAspect="1"/>
          </p:cNvPicPr>
          <p:nvPr>
            <p:ph idx="1"/>
          </p:nvPr>
        </p:nvPicPr>
        <p:blipFill>
          <a:blip r:embed="rId1"/>
          <a:stretch>
            <a:fillRect/>
          </a:stretch>
        </p:blipFill>
        <p:spPr>
          <a:xfrm>
            <a:off x="2793999" y="2480009"/>
            <a:ext cx="8456740" cy="2175967"/>
          </a:xfrm>
        </p:spPr>
      </p:pic>
    </p:spTree>
  </p:cSld>
  <p:clrMapOvr>
    <a:masterClrMapping/>
  </p:clrMapOvr>
  <mc:AlternateContent xmlns:mc="http://schemas.openxmlformats.org/markup-compatibility/2006">
    <mc:Choice xmlns:p14="http://schemas.microsoft.com/office/powerpoint/2010/main" Requires="p14">
      <p:transition spd="slow" p14:dur="1500">
        <p:split orient="vert"/>
      </p:transition>
    </mc:Choice>
    <mc:Fallback>
      <p:transition spd="slow">
        <p:split orient="vert"/>
      </p:transition>
    </mc:Fallback>
  </mc:AlternateContent>
</p:sld>
</file>

<file path=ppt/theme/theme1.xml><?xml version="1.0" encoding="utf-8"?>
<a:theme xmlns:a="http://schemas.openxmlformats.org/drawingml/2006/main" name="Wisp">
  <a:themeElements>
    <a:clrScheme name="Wisp">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Wisp">
      <a:majorFont>
        <a:latin typeface="Century Gothic"/>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Wisp</Template>
  <TotalTime>0</TotalTime>
  <Words>11874</Words>
  <Application>WPS Presentation</Application>
  <PresentationFormat>Widescreen</PresentationFormat>
  <Paragraphs>324</Paragraphs>
  <Slides>26</Slides>
  <Notes>0</Notes>
  <HiddenSlides>0</HiddenSlides>
  <MMClips>0</MMClips>
  <ScaleCrop>false</ScaleCrop>
  <HeadingPairs>
    <vt:vector size="6" baseType="variant">
      <vt:variant>
        <vt:lpstr>已用的字体</vt:lpstr>
      </vt:variant>
      <vt:variant>
        <vt:i4>20</vt:i4>
      </vt:variant>
      <vt:variant>
        <vt:lpstr>主题</vt:lpstr>
      </vt:variant>
      <vt:variant>
        <vt:i4>1</vt:i4>
      </vt:variant>
      <vt:variant>
        <vt:lpstr>幻灯片标题</vt:lpstr>
      </vt:variant>
      <vt:variant>
        <vt:i4>26</vt:i4>
      </vt:variant>
    </vt:vector>
  </HeadingPairs>
  <TitlesOfParts>
    <vt:vector size="47" baseType="lpstr">
      <vt:lpstr>Arial</vt:lpstr>
      <vt:lpstr>SimSun</vt:lpstr>
      <vt:lpstr>Wingdings</vt:lpstr>
      <vt:lpstr>Wingdings 3</vt:lpstr>
      <vt:lpstr>Arial</vt:lpstr>
      <vt:lpstr>Calibri</vt:lpstr>
      <vt:lpstr>Times New Roman</vt:lpstr>
      <vt:lpstr>Times New Roman</vt:lpstr>
      <vt:lpstr>Arial MT</vt:lpstr>
      <vt:lpstr>Century Gothic</vt:lpstr>
      <vt:lpstr>Microsoft YaHei</vt:lpstr>
      <vt:lpstr>Arial Unicode MS</vt:lpstr>
      <vt:lpstr>Calibri</vt:lpstr>
      <vt:lpstr>Arial Black</vt:lpstr>
      <vt:lpstr>Arial Rounded MT Bold</vt:lpstr>
      <vt:lpstr>Algerian</vt:lpstr>
      <vt:lpstr>Cascadia Code</vt:lpstr>
      <vt:lpstr>Agency FB</vt:lpstr>
      <vt:lpstr>Bookman Old Style</vt:lpstr>
      <vt:lpstr>Broadway</vt:lpstr>
      <vt:lpstr>Wisp</vt:lpstr>
      <vt:lpstr>0</vt:lpstr>
      <vt:lpstr>CONTENTS</vt:lpstr>
      <vt:lpstr>ABSTRACT</vt:lpstr>
      <vt:lpstr>Aim</vt:lpstr>
      <vt:lpstr>OBJECTIVES</vt:lpstr>
      <vt:lpstr>INTRODUCTION</vt:lpstr>
      <vt:lpstr>Literature Survey:</vt:lpstr>
      <vt:lpstr>EXISTING SYSTEM</vt:lpstr>
      <vt:lpstr>DRAWBACKS OF EXISTING SYSTEM</vt:lpstr>
      <vt:lpstr>PROPOSED SYSTEM</vt:lpstr>
      <vt:lpstr>ADVANTAGES OF PROPOSED SYSTEM</vt:lpstr>
      <vt:lpstr>SYSTEM ARCHITECTURE</vt:lpstr>
      <vt:lpstr>MODULES</vt:lpstr>
      <vt:lpstr>SOFTWARE REQUIREMENTS</vt:lpstr>
      <vt:lpstr>HARDWARE REQUIREMENTS</vt:lpstr>
      <vt:lpstr>PowerPoint 演示文稿</vt:lpstr>
      <vt:lpstr>PowerPoint 演示文稿</vt:lpstr>
      <vt:lpstr>PowerPoint 演示文稿</vt:lpstr>
      <vt:lpstr>PowerPoint 演示文稿</vt:lpstr>
      <vt:lpstr>Output Screens:</vt:lpstr>
      <vt:lpstr>PowerPoint 演示文稿</vt:lpstr>
      <vt:lpstr>PowerPoint 演示文稿</vt:lpstr>
      <vt:lpstr>CONCLUSION</vt:lpstr>
      <vt:lpstr>PowerPoint 演示文稿</vt:lpstr>
      <vt:lpstr>REFERENCES</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 HYBRID LEARNING ALGORITHM FOR TEXT CLASSIFIATION</dc:title>
  <dc:creator>nasapu banu prakash</dc:creator>
  <cp:lastModifiedBy>rajender sunkari</cp:lastModifiedBy>
  <cp:revision>9</cp:revision>
  <dcterms:created xsi:type="dcterms:W3CDTF">2023-10-29T23:58:00Z</dcterms:created>
  <dcterms:modified xsi:type="dcterms:W3CDTF">2024-07-25T17:46:05Z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5400E034FBD540519DA8932766F30997_13</vt:lpwstr>
  </property>
  <property fmtid="{D5CDD505-2E9C-101B-9397-08002B2CF9AE}" pid="3" name="KSOProductBuildVer">
    <vt:lpwstr>1033-12.2.0.13472</vt:lpwstr>
  </property>
</Properties>
</file>